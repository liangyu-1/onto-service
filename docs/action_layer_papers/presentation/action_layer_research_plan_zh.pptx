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147E7D"/>
            </a:solidFill>
          </c:spPr>
          <c:cat>
            <c:strRef>
              <c:f>Sheet1!$A$2:$A$3</c:f>
              <c:strCache>
                <c:ptCount val="2"/>
                <c:pt idx="0">
                  <c:v>Schema-Only</c:v>
                </c:pt>
                <c:pt idx="1">
                  <c:v>Typed + Repair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44.9</c:v>
                </c:pt>
                <c:pt idx="1">
                  <c:v>55.7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658368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67512"/>
            <a:ext cx="15087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RESEARCH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4241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面向本体动作层的研究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377440"/>
            <a:ext cx="10058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0">
                <a:solidFill>
                  <a:srgbClr val="C6D8E4"/>
                </a:solidFill>
                <a:latin typeface="PingFang SC"/>
              </a:rPr>
              <a:t>协作构建 · 文档抽取 · 智能体理解与规划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95528" y="3246120"/>
            <a:ext cx="4416552" cy="0"/>
          </a:xfrm>
          <a:prstGeom prst="line">
            <a:avLst/>
          </a:prstGeom>
          <a:ln w="38100">
            <a:solidFill>
              <a:srgbClr val="14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8" y="3657600"/>
            <a:ext cx="9875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ingFang SC"/>
              </a:rPr>
              <a:t>核心目标：构建可协作生成、从文档扩充、可供 Agent 执行的 Action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989320"/>
            <a:ext cx="6858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C2D2"/>
                </a:solidFill>
                <a:latin typeface="PingFang SC"/>
              </a:rPr>
              <a:t>导师汇报 · 2026年6月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5925312"/>
            <a:ext cx="685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2000" b="1">
                <a:solidFill>
                  <a:srgbClr val="147E7D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THESIS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大论文拟定大纲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三篇小论文分别对应构建框架、文档抽取和运行时执行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27632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92224"/>
            <a:ext cx="585216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01368"/>
            <a:ext cx="585216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7393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A3F"/>
                </a:solidFill>
                <a:latin typeface="PingFang SC"/>
              </a:rPr>
              <a:t>绪论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157984"/>
            <a:ext cx="3931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问题、研究目标与总体框架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627632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47688" y="1792224"/>
            <a:ext cx="585216" cy="310896"/>
          </a:xfrm>
          <a:prstGeom prst="roundRect">
            <a:avLst>
              <a:gd name="adj" fmla="val 8000"/>
            </a:avLst>
          </a:prstGeom>
          <a:solidFill>
            <a:srgbClr val="2A67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1801368"/>
            <a:ext cx="585216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77393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A3F"/>
                </a:solidFill>
                <a:latin typeface="PingFang SC"/>
              </a:rPr>
              <a:t>理论基础与 Action 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57984"/>
            <a:ext cx="3931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动作语义、统一表示与治理模型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44952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209544"/>
            <a:ext cx="585216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218688"/>
            <a:ext cx="585216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19125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A3F"/>
                </a:solidFill>
                <a:latin typeface="PingFang SC"/>
              </a:rPr>
              <a:t>协作式动作本体生成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575304"/>
            <a:ext cx="3931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Paper 1：Multi-Agent + Human-in-the-Loop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044952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47688" y="3209544"/>
            <a:ext cx="585216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3218688"/>
            <a:ext cx="585216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19125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A3F"/>
                </a:solidFill>
                <a:latin typeface="PingFang SC"/>
              </a:rPr>
              <a:t>程序文档动作抽取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575304"/>
            <a:ext cx="3931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Paper 2：Document → Grounded Action 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462272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2688" y="4626864"/>
            <a:ext cx="585216" cy="310896"/>
          </a:xfrm>
          <a:prstGeom prst="roundRect">
            <a:avLst>
              <a:gd name="adj" fmla="val 8000"/>
            </a:avLst>
          </a:prstGeom>
          <a:solidFill>
            <a:srgbClr val="B443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636007"/>
            <a:ext cx="585216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60857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A3F"/>
                </a:solidFill>
                <a:latin typeface="PingFang SC"/>
              </a:rPr>
              <a:t>Agent 动作理解与规划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4992624"/>
            <a:ext cx="3931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Paper 3：ActionBank → Runtime Execution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4462272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47688" y="4626864"/>
            <a:ext cx="585216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4636007"/>
            <a:ext cx="585216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60857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A3F"/>
                </a:solidFill>
                <a:latin typeface="PingFang SC"/>
              </a:rPr>
              <a:t>统一系统与跨域评估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992624"/>
            <a:ext cx="3931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Retail、Airline、Maintenance / SOP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总体问题：如何让本体支持“行动”？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研究对象不是泛化知识图谱，而是操作型本体中的 Action Layer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32461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73152" cy="3474720"/>
          </a:xfrm>
          <a:prstGeom prst="rect">
            <a:avLst/>
          </a:prstGeom>
          <a:solidFill>
            <a:srgbClr val="2A679E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28072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传统本体回答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22576"/>
            <a:ext cx="2834639" cy="272491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5B6874"/>
                </a:solidFill>
                <a:latin typeface="PingFang SC"/>
              </a:rPr>
              <a:t>• 有哪些对象和类型？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5B6874"/>
                </a:solidFill>
                <a:latin typeface="PingFang SC"/>
              </a:rPr>
              <a:t>• 对象之间有什么关系？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5B6874"/>
                </a:solidFill>
                <a:latin typeface="PingFang SC"/>
              </a:rPr>
              <a:t>• 属性和约束是什么？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944368"/>
            <a:ext cx="594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147E7D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719072"/>
            <a:ext cx="32461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719072"/>
            <a:ext cx="73152" cy="347472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1883664"/>
            <a:ext cx="28072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Action Layer 还要回答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322576"/>
            <a:ext cx="2834639" cy="272491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当前能做什么？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动作作用于谁？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需要什么状态和参数？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执行后世界如何变化？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2944368"/>
            <a:ext cx="594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D28B23"/>
                </a:solidFill>
                <a:latin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68512" y="1719072"/>
            <a:ext cx="288036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68512" y="1719072"/>
            <a:ext cx="73152" cy="3474720"/>
          </a:xfrm>
          <a:prstGeom prst="rect">
            <a:avLst/>
          </a:prstGeom>
          <a:solidFill>
            <a:srgbClr val="D28B23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24544" y="1883664"/>
            <a:ext cx="24414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最终支撑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322576"/>
            <a:ext cx="2468879" cy="272491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动作抽取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协作式构建与演化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Agent 规划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执行验证与解释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5504688"/>
            <a:ext cx="9692640" cy="502920"/>
          </a:xfrm>
          <a:prstGeom prst="roundRect">
            <a:avLst>
              <a:gd name="adj" fmla="val 8000"/>
            </a:avLst>
          </a:prstGeom>
          <a:solidFill>
            <a:srgbClr val="FAEDEC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5623560"/>
            <a:ext cx="9326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B4433E"/>
                </a:solidFill>
                <a:latin typeface="PingFang SC"/>
              </a:rPr>
              <a:t>API Schema 只描述调用语法；Action Layer 描述动作在业务世界中的语义。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ACTION 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Action IR：三种表示之间的规范化中间层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IR = Intermediate Representation，不是简单 JSON，也不是新的本体副本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297180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73152" cy="297180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2532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上游：文档语言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32304"/>
            <a:ext cx="2560320" cy="222199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自然语言步骤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表格、标题、条件句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异常与安全说明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89504"/>
            <a:ext cx="548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162A3F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28800"/>
            <a:ext cx="3566160" cy="2971800"/>
          </a:xfrm>
          <a:prstGeom prst="roundRect">
            <a:avLst>
              <a:gd name="adj" fmla="val 8000"/>
            </a:avLst>
          </a:prstGeom>
          <a:solidFill>
            <a:srgbClr val="162A3F"/>
          </a:solidFill>
          <a:ln w="12700">
            <a:solidFill>
              <a:srgbClr val="16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331720"/>
            <a:ext cx="309067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PingFang SC"/>
              </a:rPr>
              <a:t>Canonical Action 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035808"/>
            <a:ext cx="290779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ingFang SC"/>
              </a:rPr>
              <a:t>动作身份 + 对象绑定
参数角色 + 状态语义
约束 + 流程 + 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889504"/>
            <a:ext cx="548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162A3F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7072" y="1828800"/>
            <a:ext cx="297180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77072" y="1828800"/>
            <a:ext cx="73152" cy="2971800"/>
          </a:xfrm>
          <a:prstGeom prst="rect">
            <a:avLst/>
          </a:prstGeom>
          <a:solidFill>
            <a:srgbClr val="2A679E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3104" y="1993392"/>
            <a:ext cx="2532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下游：任务投影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432304"/>
            <a:ext cx="2560320" cy="222199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Action IR Patch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Runtime ActionBank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Procedure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376672"/>
            <a:ext cx="9921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7E7D"/>
                </a:solidFill>
                <a:latin typeface="PingFang SC"/>
              </a:rPr>
              <a:t>核心作用：保持文档证据、本体语义和运行时工具之间可追踪、可验证的映射。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ACTION 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Action IR 的字段不是平铺列表，而是九个语义层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Core 字段用于三篇论文；Optional 字段允许不同数据集部分标注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64208"/>
            <a:ext cx="34564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1819656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2A67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828800"/>
            <a:ext cx="102412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1" y="1856232"/>
            <a:ext cx="193852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242C34"/>
                </a:solidFill>
                <a:latin typeface="PingFang SC"/>
              </a:rPr>
              <a:t>id / type / kind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664208"/>
            <a:ext cx="34564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54296" y="1819656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828800"/>
            <a:ext cx="102412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3" y="1856232"/>
            <a:ext cx="193852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242C34"/>
                </a:solidFill>
                <a:latin typeface="PingFang SC"/>
              </a:rPr>
              <a:t>role / permission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1664208"/>
            <a:ext cx="34564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76488" y="1819656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1828800"/>
            <a:ext cx="102412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7776" y="1856232"/>
            <a:ext cx="193852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242C34"/>
                </a:solidFill>
                <a:latin typeface="PingFang SC"/>
              </a:rPr>
              <a:t>object type / binding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81528"/>
            <a:ext cx="34564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" y="3236976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3246120"/>
            <a:ext cx="102412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Parameters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1" y="3273552"/>
            <a:ext cx="193852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242C34"/>
                </a:solidFill>
                <a:latin typeface="PingFang SC"/>
              </a:rPr>
              <a:t>type / required / role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7992" y="3081528"/>
            <a:ext cx="34564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54296" y="3236976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B443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3246120"/>
            <a:ext cx="102412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3" y="3273552"/>
            <a:ext cx="193852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242C34"/>
                </a:solidFill>
                <a:latin typeface="PingFang SC"/>
              </a:rPr>
              <a:t>precondition / effect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0183" y="3081528"/>
            <a:ext cx="34564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76488" y="3236976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2A67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3246120"/>
            <a:ext cx="102412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Constraints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3273552"/>
            <a:ext cx="193852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242C34"/>
                </a:solidFill>
                <a:latin typeface="PingFang SC"/>
              </a:rPr>
              <a:t>policy / confirmation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498848"/>
            <a:ext cx="34564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2104" y="4654296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" y="4663440"/>
            <a:ext cx="102412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1" y="4690872"/>
            <a:ext cx="193852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242C34"/>
                </a:solidFill>
                <a:latin typeface="PingFang SC"/>
              </a:rPr>
              <a:t>previous / next / branch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07992" y="4498848"/>
            <a:ext cx="34564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654296" y="4654296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4296" y="4663440"/>
            <a:ext cx="102412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Grounding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3" y="4690872"/>
            <a:ext cx="193852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242C34"/>
                </a:solidFill>
                <a:latin typeface="PingFang SC"/>
              </a:rPr>
              <a:t>ontology IDs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30183" y="4498848"/>
            <a:ext cx="34564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76488" y="4654296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6488" y="4663440"/>
            <a:ext cx="102412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37776" y="4690872"/>
            <a:ext cx="193852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242C34"/>
                </a:solidFill>
                <a:latin typeface="PingFang SC"/>
              </a:rPr>
              <a:t>document / span / provenance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5925312"/>
            <a:ext cx="9966960" cy="310896"/>
          </a:xfrm>
          <a:prstGeom prst="roundRect">
            <a:avLst>
              <a:gd name="adj" fmla="val 8000"/>
            </a:avLst>
          </a:prstGeom>
          <a:solidFill>
            <a:srgbClr val="FBF5E7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5952744"/>
            <a:ext cx="9601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28B23"/>
                </a:solidFill>
                <a:latin typeface="PingFang SC"/>
              </a:rPr>
              <a:t>设计原则：缺失字段显式 unresolved；不能用 LLM 猜测替代原始证据。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ACTION 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Action IR 例子：退回已送达订单中的商品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示例来自当前 retail_action_ir.json，展示它比 API Schema 多表达什么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292608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73152" cy="4343400"/>
          </a:xfrm>
          <a:prstGeom prst="rect">
            <a:avLst/>
          </a:prstGeom>
          <a:solidFill>
            <a:srgbClr val="2A679E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28800"/>
            <a:ext cx="24871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工具 Schema 看到的内容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67712"/>
            <a:ext cx="2514600" cy="359359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tool: return_delivered_order_items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order_id: string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item_ids: array&lt;string&gt;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payment_method_id: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3246120"/>
            <a:ext cx="502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147E7D"/>
                </a:solidFill>
                <a:latin typeface="PingFang SC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664208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664208"/>
            <a:ext cx="73152" cy="434340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828800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Action IR 增加的语义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267712"/>
            <a:ext cx="3108960" cy="359359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type = OrderReturn；target = Order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item_ids 的角色是 source_items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precondition: order.status = delivered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constraints: authenticated + confirmed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只能对同一订单执行一次最终动作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引用必须属于当前订单和支付方式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3246120"/>
            <a:ext cx="502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D28B23"/>
                </a:solidFill>
                <a:latin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1664208"/>
            <a:ext cx="310896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30768" y="1664208"/>
            <a:ext cx="73152" cy="4343400"/>
          </a:xfrm>
          <a:prstGeom prst="rect">
            <a:avLst/>
          </a:prstGeom>
          <a:solidFill>
            <a:srgbClr val="D28B23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828800"/>
            <a:ext cx="26700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可计算结果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67712"/>
            <a:ext cx="2697479" cy="359359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状态迁移：delivered → return requested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Grounding：映射到 ontology action/type/property IDs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Evidence：保留 policy 原文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Runtime：确定性投影为工具调用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ACTION 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Action IR 的完整生命周期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从多源证据到协作治理、发布和 Agent 执行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2093976"/>
            <a:ext cx="502920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103120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093976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多源证据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58775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metadata / document / API / logs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51176" y="2633472"/>
            <a:ext cx="237744" cy="0"/>
          </a:xfrm>
          <a:prstGeom prst="line">
            <a:avLst/>
          </a:prstGeom>
          <a:ln w="27940">
            <a:solidFill>
              <a:srgbClr val="14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43784" y="1965960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90088" y="2093976"/>
            <a:ext cx="502920" cy="310896"/>
          </a:xfrm>
          <a:prstGeom prst="roundRect">
            <a:avLst>
              <a:gd name="adj" fmla="val 8000"/>
            </a:avLst>
          </a:prstGeom>
          <a:solidFill>
            <a:srgbClr val="2A67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0088" y="2103120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093976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Agent 提案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258775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Action IR Patch +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2633472"/>
            <a:ext cx="237744" cy="0"/>
          </a:xfrm>
          <a:prstGeom prst="line">
            <a:avLst/>
          </a:prstGeom>
          <a:ln w="27940">
            <a:solidFill>
              <a:srgbClr val="2A6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1965960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30952" y="2093976"/>
            <a:ext cx="502920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0952" y="2103120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093976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协作验证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58775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validate / critique / consensus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32904" y="2633472"/>
            <a:ext cx="237744" cy="0"/>
          </a:xfrm>
          <a:prstGeom prst="line">
            <a:avLst/>
          </a:prstGeom>
          <a:ln w="27940">
            <a:solidFill>
              <a:srgbClr val="D28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25512" y="1965960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71816" y="2093976"/>
            <a:ext cx="502920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1816" y="2103120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2093976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版本发布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258775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canonical Action IR / ActionBank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73768" y="2633472"/>
            <a:ext cx="237744" cy="0"/>
          </a:xfrm>
          <a:prstGeom prst="line">
            <a:avLst/>
          </a:prstGeom>
          <a:ln w="27940">
            <a:solidFill>
              <a:srgbClr val="34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66376" y="1965960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12680" y="2093976"/>
            <a:ext cx="502920" cy="310896"/>
          </a:xfrm>
          <a:prstGeom prst="roundRect">
            <a:avLst>
              <a:gd name="adj" fmla="val 8000"/>
            </a:avLst>
          </a:prstGeom>
          <a:solidFill>
            <a:srgbClr val="B443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2103120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9608" y="2093976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演化反馈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258775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execution traces / schema drift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160520"/>
            <a:ext cx="4892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160520"/>
            <a:ext cx="73152" cy="132588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4325112"/>
            <a:ext cx="4453127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Paper 1 负责完整治理循环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764024"/>
            <a:ext cx="4480559" cy="57607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把多个 Agent 和人的贡献转化为可审计版本演化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82512" y="4160520"/>
            <a:ext cx="4892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82512" y="4160520"/>
            <a:ext cx="73152" cy="1325880"/>
          </a:xfrm>
          <a:prstGeom prst="rect">
            <a:avLst/>
          </a:prstGeom>
          <a:solidFill>
            <a:srgbClr val="2A679E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38544" y="4325112"/>
            <a:ext cx="4453127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Paper 2 / Paper 3 分别提供输入与反馈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11112" y="4764024"/>
            <a:ext cx="4480559" cy="57607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文档抽取产生提案；运行轨迹暴露缺失、冲突和漂移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数据可用性审计：已转换不等于可监督训练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当前四个 processed JSONL 的 annotations 均为空，必须回到 raw 官方标注重新转换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64208"/>
          <a:ext cx="11448288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097280"/>
                <a:gridCol w="2971800"/>
                <a:gridCol w="2743200"/>
                <a:gridCol w="3493008"/>
              </a:tblGrid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数据集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结论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真正可用的标注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主要用于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不能用于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MyFixit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部分可用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1,497 Mac manuals / 36,659 steps 人标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Paper 2: action/part/tool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其余类别无人工标注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MSPT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可用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230 篇 BRAT + 官方 split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Paper 2: operation/material/argument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缺 flow 与 ontology IDs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PET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只作测试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45 篇 expert process annotation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Paper 2: actor/gateway/flow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test-only，不能训练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OMIn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辅助可用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gold 为 NER/CR/NEL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Paper 2: target grounding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非 procedure，不能测 Action IR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" y="6016752"/>
            <a:ext cx="996696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B4433E"/>
                </a:solidFill>
                <a:latin typeface="PingFang SC"/>
              </a:rPr>
              <a:t>必须修复 converter：现在的 18,995 / 230 / 45 / 1,156 条 JSONL 只保留文本，不是可用金标。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数据集必须按论文和能力分配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没有任何一个公开数据集可以同时支撑三篇论文的全部主张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645920"/>
          <a:ext cx="11411712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46120"/>
                <a:gridCol w="3200400"/>
                <a:gridCol w="3136392"/>
              </a:tblGrid>
              <a:tr h="7345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论文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数据来源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提供的证据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使用边界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</a:tr>
              <a:tr h="7345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Paper 1 协作构建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AAS/OPC UA/SysML/BOM、SOP/API、tau2 traces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候选 patch、冲突、验证、版本演化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需自建 Collaboration Benchmark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7345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Paper 2 文档抽取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MyFixit + MSPT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action / target / tool / parameter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主训练与字段级测试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7345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Paper 2 结构能力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PET + ProPara + BioProcess + OMIn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flow / state change / argument / grounding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辅助测试，不合并成完整金标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7345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Paper 2 弱监督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Text-mined Synthesis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operations / conditions / recipes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预训练，不能报告 gold score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7345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Paper 3 Agent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tau2 Retail/Airline + ABCD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policy、tools、dialogue、execution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tau2 主实验，ABCD 外部验证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真正缺失的数据：两套自建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这不是附加工作，而是 Paper 1 和 Paper 2 能否成立的前提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52578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73152" cy="406908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818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Full Action IR Test Set（Paper 2）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40864"/>
            <a:ext cx="4846320" cy="331927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从维修手册 / 工业 SOP / 业务策略抽样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完整标注 actor、target、parameters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preconditions、effects、constraints、flow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ontology IDs、evidence span、unresolved fields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双人标注 + 专家裁决 + agreement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737360"/>
            <a:ext cx="52578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737360"/>
            <a:ext cx="73152" cy="4069080"/>
          </a:xfrm>
          <a:prstGeom prst="rect">
            <a:avLst/>
          </a:prstGeom>
          <a:solidFill>
            <a:srgbClr val="34845B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1901952"/>
            <a:ext cx="4818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Collaboration Benchmark（Paper 1）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340864"/>
            <a:ext cx="4846320" cy="331927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多源候选：metadata、document、API、execution trace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包含正确、错误、缺失和冲突的 IR Patch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记录 Agent votes、专家 decision 和 audit trail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注入 schema / policy evolution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测质量、覆盖率、专家时间和 time-to-consensus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一份 Action IR 数据资产，支撑三种研究任务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体系性来自同一语义资产在构建、抽取和执行中的闭环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33375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73152" cy="3886200"/>
          </a:xfrm>
          <a:prstGeom prst="rect">
            <a:avLst/>
          </a:prstGeom>
          <a:solidFill>
            <a:srgbClr val="34845B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28986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Paper 1：协作事件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59152"/>
            <a:ext cx="2926079" cy="313639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candidate patch 与证据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Agent / 用户验证意见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冲突、裁决、版本和演化记录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测试质量—成本—覆盖率权衡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55648"/>
            <a:ext cx="33375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55648"/>
            <a:ext cx="73152" cy="388620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920240"/>
            <a:ext cx="28986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Paper 2：抽取样本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359152"/>
            <a:ext cx="2926079" cy="313639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输入：文档 + ontology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标签：Action IR + procedure graph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测试：字段、grounding、flow、evidence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755648"/>
            <a:ext cx="33375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755648"/>
            <a:ext cx="73152" cy="3886200"/>
          </a:xfrm>
          <a:prstGeom prst="rect">
            <a:avLst/>
          </a:prstGeom>
          <a:solidFill>
            <a:srgbClr val="D28B23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1920240"/>
            <a:ext cx="28986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Paper 3：执行样本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359152"/>
            <a:ext cx="2926079" cy="313639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Action IR → ActionBank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runtime state 由对话和工具结果构建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测试 admissibility、repair、success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95928" y="3657600"/>
            <a:ext cx="374904" cy="0"/>
          </a:xfrm>
          <a:prstGeom prst="line">
            <a:avLst/>
          </a:prstGeom>
          <a:ln w="25400">
            <a:solidFill>
              <a:srgbClr val="34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54112" y="3657600"/>
            <a:ext cx="374904" cy="0"/>
          </a:xfrm>
          <a:prstGeom prst="line">
            <a:avLst/>
          </a:prstGeom>
          <a:ln w="25400">
            <a:solidFill>
              <a:srgbClr val="14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RESEARCH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三篇论文的逻辑关系与实际推进顺序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Paper 1 是闭环框架，Paper 2 和 Paper 3 分别提供知识输入与运行反馈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A3F"/>
                </a:solidFill>
                <a:latin typeface="PingFang SC"/>
              </a:rPr>
              <a:t>逻辑顺序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572768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78608" y="1737360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1746504"/>
            <a:ext cx="1280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Paper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2" y="2267712"/>
            <a:ext cx="2276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62A3F"/>
                </a:solidFill>
                <a:latin typeface="PingFang SC"/>
              </a:rPr>
              <a:t>Collaborative Ontogenesis Loop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53712" y="2194560"/>
            <a:ext cx="429768" cy="0"/>
          </a:xfrm>
          <a:prstGeom prst="line">
            <a:avLst/>
          </a:prstGeom>
          <a:ln w="30480">
            <a:solidFill>
              <a:srgbClr val="34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1572768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33288" y="1737360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1746504"/>
            <a:ext cx="1280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Paper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267712"/>
            <a:ext cx="2276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62A3F"/>
                </a:solidFill>
                <a:latin typeface="PingFang SC"/>
              </a:rPr>
              <a:t>Document → IR Patch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08392" y="2194560"/>
            <a:ext cx="429768" cy="0"/>
          </a:xfrm>
          <a:prstGeom prst="line">
            <a:avLst/>
          </a:prstGeom>
          <a:ln w="30480">
            <a:solidFill>
              <a:srgbClr val="14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1572768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87968" y="1737360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1746504"/>
            <a:ext cx="1280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Paper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267712"/>
            <a:ext cx="2276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62A3F"/>
                </a:solidFill>
                <a:latin typeface="PingFang SC"/>
              </a:rPr>
              <a:t>ActionBank → Execution / Feedback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291840"/>
            <a:ext cx="10789920" cy="0"/>
          </a:xfrm>
          <a:prstGeom prst="line">
            <a:avLst/>
          </a:prstGeom>
          <a:ln w="1524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370332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A3F"/>
                </a:solidFill>
                <a:latin typeface="PingFang SC"/>
              </a:rPr>
              <a:t>推进顺序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356616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78608" y="3730752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78608" y="373989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Paper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2" y="4297680"/>
            <a:ext cx="227685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已有代码和初步结果
先验证 Action Layer 有无下游价值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53712" y="4343400"/>
            <a:ext cx="429768" cy="0"/>
          </a:xfrm>
          <a:prstGeom prst="line">
            <a:avLst/>
          </a:prstGeom>
          <a:ln w="30480">
            <a:solidFill>
              <a:srgbClr val="D28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074920" y="356616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33288" y="3730752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33288" y="373989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Paper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4297680"/>
            <a:ext cx="227685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构建规模化、可追踪的动作来源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08392" y="4343400"/>
            <a:ext cx="429768" cy="0"/>
          </a:xfrm>
          <a:prstGeom prst="line">
            <a:avLst/>
          </a:prstGeom>
          <a:ln w="30480">
            <a:solidFill>
              <a:srgbClr val="14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29600" y="356616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87968" y="3730752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87968" y="373989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Paper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4297680"/>
            <a:ext cx="227685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整合多 Agent 提案、验证、共识与演化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1：Collaborative Action Ontogenesis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多 Agent + Human-in-the-Loop 持续构建和演化本体动作层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3375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73152" cy="3794760"/>
          </a:xfrm>
          <a:prstGeom prst="rect">
            <a:avLst/>
          </a:prstGeom>
          <a:solidFill>
            <a:srgbClr val="B4433E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28986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为什么需要协作式框架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40864"/>
            <a:ext cx="2926079" cy="304495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自动方法覆盖高但语义不可靠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纯专家方法准确但成本高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Schema、SOP、API 和策略持续变化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单一 Agent 容易产生系统性偏差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37360"/>
            <a:ext cx="33375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37360"/>
            <a:ext cx="73152" cy="379476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901952"/>
            <a:ext cx="28986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输入证据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340864"/>
            <a:ext cx="2926079" cy="304495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数据库 Schema 与统计画像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SOP、手册和策略文档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API / tool schemas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Agent 执行日志与失败轨迹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领域专家补充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737360"/>
            <a:ext cx="33375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737360"/>
            <a:ext cx="73152" cy="3794760"/>
          </a:xfrm>
          <a:prstGeom prst="rect">
            <a:avLst/>
          </a:prstGeom>
          <a:solidFill>
            <a:srgbClr val="34845B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1901952"/>
            <a:ext cx="28986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目标输出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340864"/>
            <a:ext cx="2926079" cy="304495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版本化 canonical Action IR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完整 provenance 与贡献者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可信度和共识级别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争议、软废弃与演化记录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1 方法：提案—验证—批判—共识—发布循环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Agent 负责不同认知任务；人只处理高风险、低置信度和争议项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865376"/>
            <a:ext cx="1152144" cy="310896"/>
          </a:xfrm>
          <a:prstGeom prst="roundRect">
            <a:avLst>
              <a:gd name="adj" fmla="val 8000"/>
            </a:avLst>
          </a:prstGeom>
          <a:solidFill>
            <a:srgbClr val="2A67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874519"/>
            <a:ext cx="115214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450592"/>
            <a:ext cx="144475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Schema / API
候选发现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93976" y="2414016"/>
            <a:ext cx="219456" cy="0"/>
          </a:xfrm>
          <a:prstGeom prst="line">
            <a:avLst/>
          </a:prstGeom>
          <a:ln w="25400">
            <a:solidFill>
              <a:srgbClr val="2A6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59152" y="1691640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15184" y="1865376"/>
            <a:ext cx="1152144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5184" y="1874519"/>
            <a:ext cx="115214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450592"/>
            <a:ext cx="144475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Document →
IR Patch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41648" y="2414016"/>
            <a:ext cx="219456" cy="0"/>
          </a:xfrm>
          <a:prstGeom prst="line">
            <a:avLst/>
          </a:prstGeom>
          <a:ln w="25400">
            <a:solidFill>
              <a:srgbClr val="14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06824" y="1691640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62856" y="1865376"/>
            <a:ext cx="1152144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1874519"/>
            <a:ext cx="115214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450592"/>
            <a:ext cx="144475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类型、对象与
参数对齐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9320" y="2414016"/>
            <a:ext cx="219456" cy="0"/>
          </a:xfrm>
          <a:prstGeom prst="line">
            <a:avLst/>
          </a:prstGeom>
          <a:ln w="25400">
            <a:solidFill>
              <a:srgbClr val="D28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54496" y="1691640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10528" y="1865376"/>
            <a:ext cx="1152144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1874519"/>
            <a:ext cx="115214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450592"/>
            <a:ext cx="144475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采样、约束与
执行日志验证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36992" y="2414016"/>
            <a:ext cx="219456" cy="0"/>
          </a:xfrm>
          <a:prstGeom prst="line">
            <a:avLst/>
          </a:prstGeom>
          <a:ln w="25400">
            <a:solidFill>
              <a:srgbClr val="34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02167" y="1691640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58199" y="1865376"/>
            <a:ext cx="1152144" cy="310896"/>
          </a:xfrm>
          <a:prstGeom prst="roundRect">
            <a:avLst>
              <a:gd name="adj" fmla="val 8000"/>
            </a:avLst>
          </a:prstGeom>
          <a:solidFill>
            <a:srgbClr val="B443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199" y="1874519"/>
            <a:ext cx="115214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Critique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5" y="2450592"/>
            <a:ext cx="144475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冲突、重复与
证据缺失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884663" y="2414016"/>
            <a:ext cx="219456" cy="0"/>
          </a:xfrm>
          <a:prstGeom prst="line">
            <a:avLst/>
          </a:prstGeom>
          <a:ln w="25400">
            <a:solidFill>
              <a:srgbClr val="B44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49839" y="1691640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6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05871" y="1865376"/>
            <a:ext cx="1152144" cy="310896"/>
          </a:xfrm>
          <a:prstGeom prst="roundRect">
            <a:avLst>
              <a:gd name="adj" fmla="val 8000"/>
            </a:avLst>
          </a:prstGeom>
          <a:solidFill>
            <a:srgbClr val="162A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05871" y="1874519"/>
            <a:ext cx="115214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Consensus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9567" y="2450592"/>
            <a:ext cx="144475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投票、仲裁与
版本发布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360" y="3675887"/>
            <a:ext cx="6446520" cy="1024128"/>
          </a:xfrm>
          <a:prstGeom prst="roundRect">
            <a:avLst>
              <a:gd name="adj" fmla="val 8000"/>
            </a:avLst>
          </a:prstGeom>
          <a:solidFill>
            <a:srgbClr val="162A3F"/>
          </a:solidFill>
          <a:ln w="12700">
            <a:solidFill>
              <a:srgbClr val="16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3240" y="3822191"/>
            <a:ext cx="6080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ingFang SC"/>
              </a:rPr>
              <a:t>Action IR Patch + Proposal Envelope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4187952"/>
            <a:ext cx="6080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ingFang SC"/>
              </a:rPr>
              <a:t>semantic delta | evidence | contributors | votes | dispute | audit trail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074920"/>
            <a:ext cx="3246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074920"/>
            <a:ext cx="73152" cy="868680"/>
          </a:xfrm>
          <a:prstGeom prst="rect">
            <a:avLst/>
          </a:prstGeom>
          <a:solidFill>
            <a:srgbClr val="D28B23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1" y="5239512"/>
            <a:ext cx="28072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人类 Micro-task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678424"/>
            <a:ext cx="2834639" cy="11887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5B6874"/>
                </a:solidFill>
                <a:latin typeface="PingFang SC"/>
              </a:rPr>
              <a:t>• 确认 / 反驳 / 补充 / 裁决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62272" y="5074920"/>
            <a:ext cx="3246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62272" y="5074920"/>
            <a:ext cx="73152" cy="868680"/>
          </a:xfrm>
          <a:prstGeom prst="rect">
            <a:avLst/>
          </a:prstGeom>
          <a:solidFill>
            <a:srgbClr val="34845B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18304" y="5239512"/>
            <a:ext cx="28072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可信度升级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0872" y="5678424"/>
            <a:ext cx="2834639" cy="11887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5B6874"/>
                </a:solidFill>
                <a:latin typeface="PingFang SC"/>
              </a:rPr>
              <a:t>• candidate → inferred → confirmed → approved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47304" y="5074920"/>
            <a:ext cx="3246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47304" y="5074920"/>
            <a:ext cx="73152" cy="868680"/>
          </a:xfrm>
          <a:prstGeom prst="rect">
            <a:avLst/>
          </a:prstGeom>
          <a:solidFill>
            <a:srgbClr val="B4433E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03336" y="5239512"/>
            <a:ext cx="28072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持续演化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5904" y="5678424"/>
            <a:ext cx="2834639" cy="11887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5B6874"/>
                </a:solidFill>
                <a:latin typeface="PingFang SC"/>
              </a:rPr>
              <a:t>• schema drift → reopen → revalidate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1 实验：不仅比较本体质量，还要比较协作成本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验证多 Agent 协作是否真的优于单 Agent、自动流水线和纯专家流程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274320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73152" cy="4224528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28800"/>
            <a:ext cx="23042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实验任务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67712"/>
            <a:ext cx="2331720" cy="347472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Cold start：从多源证据构建动作层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Noisy proposal：注入错误与缺失字段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Conflict：不同 Agent / 用户意见冲突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Evolution：Schema、SOP 和策略变化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664208"/>
            <a:ext cx="251460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1664208"/>
            <a:ext cx="73152" cy="4224528"/>
          </a:xfrm>
          <a:prstGeom prst="rect">
            <a:avLst/>
          </a:prstGeom>
          <a:solidFill>
            <a:srgbClr val="2A679E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1828800"/>
            <a:ext cx="20756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Baselines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267712"/>
            <a:ext cx="2103120" cy="347472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Single-LLM generation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Sequential auto pipeline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Human-only construction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Simple majority vote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Ours：role-specialized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664208"/>
            <a:ext cx="274320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664208"/>
            <a:ext cx="73152" cy="4224528"/>
          </a:xfrm>
          <a:prstGeom prst="rect">
            <a:avLst/>
          </a:prstGeom>
          <a:solidFill>
            <a:srgbClr val="D28B23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1828800"/>
            <a:ext cx="23042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质量与效率指标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267712"/>
            <a:ext cx="2331720" cy="347472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Action IR field / exact accuracy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Coverage 与 accepted actions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Expert minutes per accepted action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Time-to-consensus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Conflict detection F1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71432" y="1664208"/>
            <a:ext cx="2395728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71432" y="1664208"/>
            <a:ext cx="73152" cy="4224528"/>
          </a:xfrm>
          <a:prstGeom prst="rect">
            <a:avLst/>
          </a:prstGeom>
          <a:solidFill>
            <a:srgbClr val="B4433E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27463" y="1828800"/>
            <a:ext cx="195681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Ablations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267712"/>
            <a:ext cx="1984248" cy="347472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No Critic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No Validator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No Human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No Provenance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No Revalidation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1 有哪些直接前驱？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不能再声称“首个协作式、多 Agent、动态本体构建框架”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609344"/>
          <a:ext cx="1143000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754880"/>
                <a:gridCol w="4206240"/>
              </a:tblGrid>
              <a:tr h="65053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已有工作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已经做到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你的剩余空间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</a:tr>
              <a:tr h="65053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HyWay (2025)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LLM semantic mapping + iterative expert validation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缺 multi-agent 独立证据与执行反馈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65053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IDEA2 (2026)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专家协作、反复修订、共识与 provenance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只覆盖 competency questions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65053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CooperKGC (2024)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多 Agent entity/relation/event 抽取与纠错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缺本体版本治理和 human ownership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65053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Clinical Multi-LLM KG (2026)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schema-constrained RAG + consensus validation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缺 action semantics 和真实 gold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65053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AutoPKG (ACL 2026 Findings)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动态类型/属性诱导、决策 Agent、canonical graph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Paper 1 最强直接竞争者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6505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Human-in-loop KG expansion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候选推荐 + 人工验证 + 成本实验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只解决新概念 parent placement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1 真正可保留的创新边界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必须是组合机制创新，并通过直接对照实验验证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93008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24528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56232"/>
            <a:ext cx="3054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Action-Specific Patch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95144"/>
            <a:ext cx="3081527" cy="347472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修改 actor、target、roles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preconditions、effects、constraints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不是普通 class/property/triple proposal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691640"/>
            <a:ext cx="3493008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691640"/>
            <a:ext cx="73152" cy="4224528"/>
          </a:xfrm>
          <a:prstGeom prst="rect">
            <a:avLst/>
          </a:prstGeom>
          <a:solidFill>
            <a:srgbClr val="34845B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56232"/>
            <a:ext cx="3054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Multi-Source Executable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295144"/>
            <a:ext cx="3081527" cy="347472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metadata + document + API + traces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类型、状态、反事实和工具执行验证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运行失败可反向挑战已发布定义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691640"/>
            <a:ext cx="3493008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691640"/>
            <a:ext cx="73152" cy="4224528"/>
          </a:xfrm>
          <a:prstGeom prst="rect">
            <a:avLst/>
          </a:prstGeom>
          <a:solidFill>
            <a:srgbClr val="D28B23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856232"/>
            <a:ext cx="3054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Governed Evolution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95144"/>
            <a:ext cx="3081527" cy="347472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Action IR 与 Proposal Envelope 分离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dispute、owner、version、soft deprecation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runtime-triggered revalidation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016752"/>
            <a:ext cx="10149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B4433E"/>
                </a:solidFill>
                <a:latin typeface="PingFang SC"/>
              </a:rPr>
              <a:t>若缺少执行验证和运行反馈闭环，Paper 1 很容易被视为 AutoPKG + HyWay 的领域变体。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2：从程序文档抽取 Ontology-Grounded Action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作为协作框架中的 Document Extraction Agent，也可独立形成抽取论文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2002536"/>
            <a:ext cx="502920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011679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002536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结构解析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49631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标题、表格、步骤号、版面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51176" y="2542032"/>
            <a:ext cx="237744" cy="0"/>
          </a:xfrm>
          <a:prstGeom prst="line">
            <a:avLst/>
          </a:prstGeom>
          <a:ln w="27940">
            <a:solidFill>
              <a:srgbClr val="14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43784" y="1874519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90088" y="2002536"/>
            <a:ext cx="502920" cy="310896"/>
          </a:xfrm>
          <a:prstGeom prst="roundRect">
            <a:avLst>
              <a:gd name="adj" fmla="val 8000"/>
            </a:avLst>
          </a:prstGeom>
          <a:solidFill>
            <a:srgbClr val="2A67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0088" y="2011679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002536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程序单元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249631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动作、条件、异常、规则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2542032"/>
            <a:ext cx="237744" cy="0"/>
          </a:xfrm>
          <a:prstGeom prst="line">
            <a:avLst/>
          </a:prstGeom>
          <a:ln w="27940">
            <a:solidFill>
              <a:srgbClr val="2A6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1874519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30952" y="2002536"/>
            <a:ext cx="502920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0952" y="2011679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002536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LLM 抽取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49631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受控 Action IR + evidence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32904" y="2542032"/>
            <a:ext cx="237744" cy="0"/>
          </a:xfrm>
          <a:prstGeom prst="line">
            <a:avLst/>
          </a:prstGeom>
          <a:ln w="27940">
            <a:solidFill>
              <a:srgbClr val="D28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25512" y="1874519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71816" y="2002536"/>
            <a:ext cx="502920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1816" y="2011679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2002536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本体对齐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249631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候选检索 + 类型/角色约束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73768" y="2542032"/>
            <a:ext cx="237744" cy="0"/>
          </a:xfrm>
          <a:prstGeom prst="line">
            <a:avLst/>
          </a:prstGeom>
          <a:ln w="27940">
            <a:solidFill>
              <a:srgbClr val="34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66376" y="1874519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12680" y="2002536"/>
            <a:ext cx="502920" cy="310896"/>
          </a:xfrm>
          <a:prstGeom prst="roundRect">
            <a:avLst>
              <a:gd name="adj" fmla="val 8000"/>
            </a:avLst>
          </a:prstGeom>
          <a:solidFill>
            <a:srgbClr val="B443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2011679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9608" y="2002536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图与验证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249631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control flow + schema checks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06908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" y="4069080"/>
            <a:ext cx="73152" cy="141732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4233672"/>
            <a:ext cx="45445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核心创新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672584"/>
            <a:ext cx="4572000" cy="66751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从 action mention 提升为可投影的 ontology action record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82512" y="406908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82512" y="4069080"/>
            <a:ext cx="73152" cy="1417320"/>
          </a:xfrm>
          <a:prstGeom prst="rect">
            <a:avLst/>
          </a:prstGeom>
          <a:solidFill>
            <a:srgbClr val="B4433E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38544" y="4233672"/>
            <a:ext cx="45445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关键约束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11112" y="4672584"/>
            <a:ext cx="4572000" cy="66751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无法对齐的字段标记 unresolved，不允许无证据补全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2：实验必须分层，否则无法证明 Action IR 有效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公开数据评估局部能力，人工完整集评估整体表示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3375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73152" cy="416052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28986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字段级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95144"/>
            <a:ext cx="2926079" cy="341071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Action / Actor / Target F1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Parameter 与 Role F1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B6874"/>
                </a:solidFill>
                <a:latin typeface="PingFang SC"/>
              </a:rPr>
              <a:t>• Evidence Span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691640"/>
            <a:ext cx="33375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691640"/>
            <a:ext cx="73152" cy="4160520"/>
          </a:xfrm>
          <a:prstGeom prst="rect">
            <a:avLst/>
          </a:prstGeom>
          <a:solidFill>
            <a:srgbClr val="2A679E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856232"/>
            <a:ext cx="28986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结构级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295144"/>
            <a:ext cx="2926079" cy="341071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Ontology Grounding Accuracy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Control-flow Edge F1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Validation Pass Rate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Full Action IR Exact 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91640"/>
            <a:ext cx="33375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691640"/>
            <a:ext cx="73152" cy="4160520"/>
          </a:xfrm>
          <a:prstGeom prst="rect">
            <a:avLst/>
          </a:prstGeom>
          <a:solidFill>
            <a:srgbClr val="D28B23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1856232"/>
            <a:ext cx="28986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下游级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95144"/>
            <a:ext cx="2926079" cy="341071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协作提案 acceptance / conflict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ActionBank projection 成功率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Agent admissibility / success 变化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2 也有非常接近的前人工作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过程抽取、程序图、ontology-guided extraction 和可执行生成均已有研究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1572768"/>
          <a:ext cx="112471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513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直接前驱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已经覆盖的能力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Text2Event (ACL 2021)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schema-constrained sequence-to-structure event extraction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CPK Extraction (2019)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goal/workflow/action/command/usage ontology；47,491 actions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PET / PAGED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activity、actor、gateway、flow 与 procedural graph benchmark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Universal Prompting (2024)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8 个 LLM；三数据集；最高 +8 F1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Decomposed Hybrid BPM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LLM 抽取 + deterministic process-model construction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Ontology-informed PDF extraction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procedure/step/substep + ontology + in-context learning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Multi-Agent Procedural Graph (2026)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builder + structural simulator + semantic refinement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2C34"/>
                          </a:solidFill>
                          <a:latin typeface="PingFang SC"/>
                        </a:rPr>
                        <a:t>NL2ProcessOps / OMPD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C34"/>
                          </a:solidFill>
                          <a:latin typeface="PingFang SC"/>
                        </a:rPr>
                        <a:t>文本到执行代码；工业维护程序本体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2 必须把“输出契约”作为核心创新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不能再声称首个 SOP/程序动作抽取或首个 ontology-guided pipeline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93008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24528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56232"/>
            <a:ext cx="3054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Existing-Ontology Grounding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95144"/>
            <a:ext cx="3081527" cy="347472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不是生成任意 event/BPMN label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动作、对象、参数映射到已有 ontology IDs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无法映射时显式 unresolved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691640"/>
            <a:ext cx="3493008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691640"/>
            <a:ext cx="73152" cy="4224528"/>
          </a:xfrm>
          <a:prstGeom prst="rect">
            <a:avLst/>
          </a:prstGeom>
          <a:solidFill>
            <a:srgbClr val="D28B23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56232"/>
            <a:ext cx="3054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Executable Action Semantics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295144"/>
            <a:ext cx="3081527" cy="347472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target-object type 与 parameter roles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preconditions、effects、policy constraints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evidence 和 state transition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691640"/>
            <a:ext cx="3493008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691640"/>
            <a:ext cx="73152" cy="4224528"/>
          </a:xfrm>
          <a:prstGeom prst="rect">
            <a:avLst/>
          </a:prstGeom>
          <a:solidFill>
            <a:srgbClr val="34845B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856232"/>
            <a:ext cx="3054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Cross-Paper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95144"/>
            <a:ext cx="3081527" cy="347472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可形成 Action IR Patch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可确定性投影到 ActionBank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下游 admissibility utility 参与评估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016752"/>
            <a:ext cx="10149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B4433E"/>
                </a:solidFill>
                <a:latin typeface="PingFang SC"/>
              </a:rPr>
              <a:t>PAGED 是 benchmark 强敌；2026 Multi-Agent Procedural Graph 是方法强敌；OMPD 是工业表示强敌。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3：面向 Agent 的动作理解、约束与修复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假设 Action IR 已存在；研究它怎样成为运行时动作语义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1911095"/>
            <a:ext cx="502920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920239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911095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IR 编译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40487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Action IR → ActionBank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51176" y="2450592"/>
            <a:ext cx="237744" cy="0"/>
          </a:xfrm>
          <a:prstGeom prst="line">
            <a:avLst/>
          </a:prstGeom>
          <a:ln w="27940">
            <a:solidFill>
              <a:srgbClr val="14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43784" y="1783080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90088" y="1911095"/>
            <a:ext cx="502920" cy="310896"/>
          </a:xfrm>
          <a:prstGeom prst="roundRect">
            <a:avLst>
              <a:gd name="adj" fmla="val 8000"/>
            </a:avLst>
          </a:prstGeom>
          <a:solidFill>
            <a:srgbClr val="2A67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0088" y="1920239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1911095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运行状态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240487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仅使用对话与已观察工具结果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2450592"/>
            <a:ext cx="237744" cy="0"/>
          </a:xfrm>
          <a:prstGeom prst="line">
            <a:avLst/>
          </a:prstGeom>
          <a:ln w="27940">
            <a:solidFill>
              <a:srgbClr val="2A6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1783080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30952" y="1911095"/>
            <a:ext cx="502920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0952" y="1920239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1911095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LLM 提案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40487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candidate action + arguments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32904" y="2450592"/>
            <a:ext cx="237744" cy="0"/>
          </a:xfrm>
          <a:prstGeom prst="line">
            <a:avLst/>
          </a:prstGeom>
          <a:ln w="27940">
            <a:solidFill>
              <a:srgbClr val="D28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25512" y="1783080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71816" y="1911095"/>
            <a:ext cx="502920" cy="310896"/>
          </a:xfrm>
          <a:prstGeom prst="roundRect">
            <a:avLst>
              <a:gd name="adj" fmla="val 8000"/>
            </a:avLst>
          </a:prstGeom>
          <a:solidFill>
            <a:srgbClr val="B443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1816" y="1920239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1911095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可执行性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240487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type-aware admissibility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73768" y="2450592"/>
            <a:ext cx="237744" cy="0"/>
          </a:xfrm>
          <a:prstGeom prst="line">
            <a:avLst/>
          </a:prstGeom>
          <a:ln w="27940">
            <a:solidFill>
              <a:srgbClr val="B44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66376" y="1783080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12680" y="1911095"/>
            <a:ext cx="502920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1920239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9608" y="1911095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执行/修复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2404872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tool call 或 ontology violation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005072"/>
            <a:ext cx="4892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" y="4005072"/>
            <a:ext cx="73152" cy="1508760"/>
          </a:xfrm>
          <a:prstGeom prst="rect">
            <a:avLst/>
          </a:prstGeom>
          <a:solidFill>
            <a:srgbClr val="2A679E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" y="4169663"/>
            <a:ext cx="4453127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Epistemic Action：弱 Grounding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4608576"/>
            <a:ext cx="4480559" cy="75895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查询和检查用于获取状态，不能要求对象已被缓存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28232" y="4005072"/>
            <a:ext cx="4892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28232" y="4005072"/>
            <a:ext cx="73152" cy="1508760"/>
          </a:xfrm>
          <a:prstGeom prst="rect">
            <a:avLst/>
          </a:prstGeom>
          <a:solidFill>
            <a:srgbClr val="B4433E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84264" y="4169663"/>
            <a:ext cx="4453127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Mutating Action：强 Grounding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4608576"/>
            <a:ext cx="4480559" cy="75895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修改状态前检查对象、角色、状态、策略和用户确认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3 具体例子：取消订单 #123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同一个用户目标如何经过状态获取、确认绑定和强 grounding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1847088"/>
            <a:ext cx="502920" cy="310896"/>
          </a:xfrm>
          <a:prstGeom prst="roundRect">
            <a:avLst>
              <a:gd name="adj" fmla="val 8000"/>
            </a:avLst>
          </a:prstGeom>
          <a:solidFill>
            <a:srgbClr val="2A67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856231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847088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认证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340864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find_user_id_by_email
→ user_authenticated=true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51176" y="2386584"/>
            <a:ext cx="237744" cy="0"/>
          </a:xfrm>
          <a:prstGeom prst="line">
            <a:avLst/>
          </a:prstGeom>
          <a:ln w="27940">
            <a:solidFill>
              <a:srgbClr val="2A6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43784" y="1719072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90088" y="1847088"/>
            <a:ext cx="502920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0088" y="1856231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1847088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读取订单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2340864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get_order_details(#123)
→ status=pending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2386584"/>
            <a:ext cx="237744" cy="0"/>
          </a:xfrm>
          <a:prstGeom prst="line">
            <a:avLst/>
          </a:prstGeom>
          <a:ln w="27940">
            <a:solidFill>
              <a:srgbClr val="14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1719072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30952" y="1847088"/>
            <a:ext cx="502920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0952" y="1856231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1847088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绑定确认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40864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ask_for_confirmation
绑定 action + arguments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32904" y="2386584"/>
            <a:ext cx="237744" cy="0"/>
          </a:xfrm>
          <a:prstGeom prst="line">
            <a:avLst/>
          </a:prstGeom>
          <a:ln w="27940">
            <a:solidFill>
              <a:srgbClr val="D28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25512" y="1719072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71816" y="1847088"/>
            <a:ext cx="502920" cy="310896"/>
          </a:xfrm>
          <a:prstGeom prst="roundRect">
            <a:avLst>
              <a:gd name="adj" fmla="val 8000"/>
            </a:avLst>
          </a:prstGeom>
          <a:solidFill>
            <a:srgbClr val="B443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1816" y="1856231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1847088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强校验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2340864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target / status / reason /
confirmation 均满足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73768" y="2386584"/>
            <a:ext cx="237744" cy="0"/>
          </a:xfrm>
          <a:prstGeom prst="line">
            <a:avLst/>
          </a:prstGeom>
          <a:ln w="27940">
            <a:solidFill>
              <a:srgbClr val="B44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66376" y="1719072"/>
            <a:ext cx="20299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12680" y="1847088"/>
            <a:ext cx="502920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1856231"/>
            <a:ext cx="502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9608" y="1847088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执行效果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2340864"/>
            <a:ext cx="170078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B6874"/>
                </a:solidFill>
                <a:latin typeface="PingFang SC"/>
              </a:rPr>
              <a:t>cancel_pending_order
pending → cancelled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886200"/>
            <a:ext cx="512064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3886200"/>
            <a:ext cx="73152" cy="1664208"/>
          </a:xfrm>
          <a:prstGeom prst="rect">
            <a:avLst/>
          </a:prstGeom>
          <a:solidFill>
            <a:srgbClr val="B4433E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1" y="4050791"/>
            <a:ext cx="4681727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为什么不能直接取消？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489704"/>
            <a:ext cx="4709159" cy="91440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初始时订单对象未观察、状态未知、用户未确认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Mutating action 必须满足 strong grounding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91072" y="3886200"/>
            <a:ext cx="512064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91072" y="3886200"/>
            <a:ext cx="73152" cy="1664208"/>
          </a:xfrm>
          <a:prstGeom prst="rect">
            <a:avLst/>
          </a:prstGeom>
          <a:solidFill>
            <a:srgbClr val="2A679E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47104" y="4050791"/>
            <a:ext cx="4681727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状态反事实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4489704"/>
            <a:ext cx="4709159" cy="91440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若 status=delivered，则返回 PreconditionViolation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Repair 应选择退货、询问或转人工，而不是重试取消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3 当前已落地的 Action IR 使用链路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不是概念性接口：已有 canonical 文件、编译器、运行时和一致性检查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874519"/>
            <a:ext cx="199339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2084831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093975"/>
            <a:ext cx="144475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Canonical 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34640"/>
            <a:ext cx="1737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242C34"/>
                </a:solidFill>
                <a:latin typeface="PingFang SC"/>
              </a:rPr>
              <a:t>data/action_ir/
retail_action_ir.json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42032" y="2852928"/>
            <a:ext cx="237744" cy="0"/>
          </a:xfrm>
          <a:prstGeom prst="line">
            <a:avLst/>
          </a:prstGeom>
          <a:ln w="25400">
            <a:solidFill>
              <a:srgbClr val="14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43784" y="1874519"/>
            <a:ext cx="199339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18103" y="2084831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2A67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8103" y="2093975"/>
            <a:ext cx="144475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Compiler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834640"/>
            <a:ext cx="1737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242C34"/>
                </a:solidFill>
                <a:latin typeface="PingFang SC"/>
              </a:rPr>
              <a:t>compile_action_ir_to_
action_bank.py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55464" y="2852928"/>
            <a:ext cx="237744" cy="0"/>
          </a:xfrm>
          <a:prstGeom prst="line">
            <a:avLst/>
          </a:prstGeom>
          <a:ln w="25400">
            <a:solidFill>
              <a:srgbClr val="2A6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1874519"/>
            <a:ext cx="199339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31536" y="2084831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093975"/>
            <a:ext cx="144475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Runtime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834640"/>
            <a:ext cx="1737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242C34"/>
                </a:solidFill>
                <a:latin typeface="PingFang SC"/>
              </a:rPr>
              <a:t>data/action_bank/
retail_action_bank.json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68896" y="2852928"/>
            <a:ext cx="237744" cy="0"/>
          </a:xfrm>
          <a:prstGeom prst="line">
            <a:avLst/>
          </a:prstGeom>
          <a:ln w="25400">
            <a:solidFill>
              <a:srgbClr val="D28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70648" y="1874519"/>
            <a:ext cx="199339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44968" y="2084831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4968" y="2093975"/>
            <a:ext cx="144475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Agent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664" y="2834640"/>
            <a:ext cx="1737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242C34"/>
                </a:solidFill>
                <a:latin typeface="PingFang SC"/>
              </a:rPr>
              <a:t>runtime_ontology
admissibility / repair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82328" y="2852928"/>
            <a:ext cx="237744" cy="0"/>
          </a:xfrm>
          <a:prstGeom prst="line">
            <a:avLst/>
          </a:prstGeom>
          <a:ln w="25400">
            <a:solidFill>
              <a:srgbClr val="34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84080" y="1874519"/>
            <a:ext cx="199339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58400" y="2084831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B443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2093975"/>
            <a:ext cx="144475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2834640"/>
            <a:ext cx="1737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242C34"/>
                </a:solidFill>
                <a:latin typeface="PingFang SC"/>
              </a:rPr>
              <a:t>projection smoke test
preflight / traces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617720"/>
            <a:ext cx="9921240" cy="868680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3312" y="4800600"/>
            <a:ext cx="9491472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7E7D"/>
                </a:solidFill>
                <a:latin typeface="PingFang SC"/>
              </a:rPr>
              <a:t>设计约束：ActionBank 必须由 canonical Action IR 确定性生成；禁止手工修改导致 Paper 2 / Paper 3 表示断裂。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PAPER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Paper 3 初步结果：有效信号与不确定性同时存在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主分析：341 个严格配对样本，114 个任务，3 个完整 trials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719072"/>
          <a:ext cx="49834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16752" y="1719072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1719072"/>
            <a:ext cx="73152" cy="178308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883664"/>
            <a:ext cx="5001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积极证据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322576"/>
            <a:ext cx="5029200" cy="1033271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+10.9 pp；paired McNemar p = 0.0029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Transfer calls：323 → 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3730752"/>
            <a:ext cx="54406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6752" y="3730752"/>
            <a:ext cx="73152" cy="1920240"/>
          </a:xfrm>
          <a:prstGeom prst="rect">
            <a:avLst/>
          </a:prstGeom>
          <a:solidFill>
            <a:srgbClr val="B4433E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3895344"/>
            <a:ext cx="5001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不能回避的限制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4334256"/>
            <a:ext cx="5029200" cy="117043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task-level sign test p = 0.109，未显著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8-trial run 被配额中断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B6874"/>
                </a:solidFill>
                <a:latin typeface="PingFang SC"/>
              </a:rPr>
              <a:t>• confirmation binding 缺陷修复后尚未重跑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三篇论文的关系与边界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共享 Action IR，但不能重复声称同一个贡献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185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743200"/>
                <a:gridCol w="3154680"/>
                <a:gridCol w="3886200"/>
              </a:tblGrid>
              <a:tr h="99440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论文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核心问题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输入/输出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明确不做什么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</a:tr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2C34"/>
                          </a:solidFill>
                          <a:latin typeface="PingFang SC"/>
                        </a:rPr>
                        <a:t>Paper 1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如何持续构建和演化？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Evidence → Versioned Action IR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不替代各专职抽取算法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2C34"/>
                          </a:solidFill>
                          <a:latin typeface="PingFang SC"/>
                        </a:rPr>
                        <a:t>Paper 2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文档如何产生动作候选？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Document → Action IR Patch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不负责协作治理和 agent policy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9944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2C34"/>
                          </a:solidFill>
                          <a:latin typeface="PingFang SC"/>
                        </a:rPr>
                        <a:t>Paper 3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如何理解、验证和修复动作？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ActionBank → Runtime Execution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不负责从文档构建动作层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5840" y="5925312"/>
            <a:ext cx="10149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62A3F"/>
                </a:solidFill>
                <a:latin typeface="PingFang SC"/>
              </a:rPr>
              <a:t>体系性来自共享表示和数据闭环；创新性仍需由每篇独立的机制实验支撑。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需要向导师突出的大论文创新点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创新不是“用了本体和多 Agent”，而是三个可验证的机制贡献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73152" cy="4297680"/>
          </a:xfrm>
          <a:prstGeom prst="rect">
            <a:avLst/>
          </a:prstGeom>
          <a:solidFill>
            <a:srgbClr val="34845B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28800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创新一：可演化的动作本体工程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67712"/>
            <a:ext cx="3108960" cy="354787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Action IR Patch，而不是整库自由生成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多源、多 Agent 的独立证据与角色分工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critique、consensus、provenance 和 revalidation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质量—覆盖率—专家成本联合优化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664208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664208"/>
            <a:ext cx="73152" cy="4297680"/>
          </a:xfrm>
          <a:prstGeom prst="rect">
            <a:avLst/>
          </a:prstGeom>
          <a:solidFill>
            <a:srgbClr val="147E7D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828800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创新二：本体约束的动作抽取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267712"/>
            <a:ext cx="3108960" cy="354787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从 action mention 提升到完整 Action IR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文档结构、控制流、状态和证据联合建模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现有本体约束 grounding，显式 unresolved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可直接投影到协作提案和运行时 ActionBank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64208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64208"/>
            <a:ext cx="73152" cy="4297680"/>
          </a:xfrm>
          <a:prstGeom prst="rect">
            <a:avLst/>
          </a:prstGeom>
          <a:solidFill>
            <a:srgbClr val="D28B23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828800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A3F"/>
                </a:solidFill>
                <a:latin typeface="PingFang SC"/>
              </a:rPr>
              <a:t>创新三：类型感知的动作语义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267712"/>
            <a:ext cx="3108960" cy="3547872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区分获取状态的 epistemic action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与改变状态的 mutating action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weak / strong grounding 避免统一 verifier 的矛盾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B6874"/>
                </a:solidFill>
                <a:latin typeface="PingFang SC"/>
              </a:rPr>
              <a:t>• ontology violation 驱动 repair 与失败分析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每篇论文必须用什么证据支撑主张？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只比较最终准确率，无法证明本体动作层是有效机制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19072"/>
          <a:ext cx="11155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743200"/>
                <a:gridCol w="3886200"/>
                <a:gridCol w="3246120"/>
              </a:tblGrid>
              <a:tr h="104013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论文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核心机制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必须报告的机制指标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关键对照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2C34"/>
                          </a:solidFill>
                          <a:latin typeface="PingFang SC"/>
                        </a:rPr>
                        <a:t>Paper 1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Multi-agent consensus loop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IR quality / coverage / expert time / dispute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Single LLM / automation / expert-only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2C34"/>
                          </a:solidFill>
                          <a:latin typeface="PingFang SC"/>
                        </a:rPr>
                        <a:t>Paper 2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Ontology constraint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Grounding / flow / evidence / validation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LLM-only extraction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2C34"/>
                          </a:solidFill>
                          <a:latin typeface="PingFang SC"/>
                        </a:rPr>
                        <a:t>Paper 3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Type-aware admissibility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Task success + violations + repair + latency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Schema-only + component ablations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建议推进路线：先补强证据，再扩展场景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实际顺序以降低研究风险为目标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251460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2029968"/>
            <a:ext cx="621792" cy="310896"/>
          </a:xfrm>
          <a:prstGeom prst="roundRect">
            <a:avLst>
              <a:gd name="adj" fmla="val 8000"/>
            </a:avLst>
          </a:prstGeom>
          <a:solidFill>
            <a:srgbClr val="B443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62179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79192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62A3F"/>
                </a:solidFill>
                <a:latin typeface="PingFang SC"/>
              </a:rPr>
              <a:t>Paper 3 重跑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364992"/>
            <a:ext cx="21488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B6874"/>
                </a:solidFill>
                <a:latin typeface="PingFang SC"/>
              </a:rPr>
              <a:t>确认修复版有效
完整 paired trials
component ablation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3493008"/>
            <a:ext cx="274320" cy="0"/>
          </a:xfrm>
          <a:prstGeom prst="line">
            <a:avLst/>
          </a:prstGeom>
          <a:ln w="30480">
            <a:solidFill>
              <a:srgbClr val="B44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8728" y="1828800"/>
            <a:ext cx="251460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1608" y="2029968"/>
            <a:ext cx="621792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2039112"/>
            <a:ext cx="62179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679192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62A3F"/>
                </a:solidFill>
                <a:latin typeface="PingFang SC"/>
              </a:rPr>
              <a:t>固定共享模型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364992"/>
            <a:ext cx="21488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B6874"/>
                </a:solidFill>
                <a:latin typeface="PingFang SC"/>
              </a:rPr>
              <a:t>Action IR core schema
Proposal Envelope
full-label test set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3493008"/>
            <a:ext cx="274320" cy="0"/>
          </a:xfrm>
          <a:prstGeom prst="line">
            <a:avLst/>
          </a:prstGeom>
          <a:ln w="30480">
            <a:solidFill>
              <a:srgbClr val="14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19088" y="1828800"/>
            <a:ext cx="251460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01968" y="2029968"/>
            <a:ext cx="621792" cy="310896"/>
          </a:xfrm>
          <a:prstGeom prst="roundRect">
            <a:avLst>
              <a:gd name="adj" fmla="val 8000"/>
            </a:avLst>
          </a:prstGeom>
          <a:solidFill>
            <a:srgbClr val="2A67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039112"/>
            <a:ext cx="62179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679192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62A3F"/>
                </a:solidFill>
                <a:latin typeface="PingFang SC"/>
              </a:rPr>
              <a:t>完成 Paper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364992"/>
            <a:ext cx="21488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B6874"/>
                </a:solidFill>
                <a:latin typeface="PingFang SC"/>
              </a:rPr>
              <a:t>字段与结构评估
误差分析
生成规模化 ActionBank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61119" y="3493008"/>
            <a:ext cx="274321" cy="0"/>
          </a:xfrm>
          <a:prstGeom prst="line">
            <a:avLst/>
          </a:prstGeom>
          <a:ln w="30480">
            <a:solidFill>
              <a:srgbClr val="2A6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99448" y="1828800"/>
            <a:ext cx="251460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82328" y="2029968"/>
            <a:ext cx="621792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2039112"/>
            <a:ext cx="62179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2679192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62A3F"/>
                </a:solidFill>
                <a:latin typeface="PingFang SC"/>
              </a:rPr>
              <a:t>实现 Paper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2328" y="3364992"/>
            <a:ext cx="21488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B6874"/>
                </a:solidFill>
                <a:latin typeface="PingFang SC"/>
              </a:rPr>
              <a:t>multi-agent loop
consensus / conflict
schema evolution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50992"/>
            <a:ext cx="9966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7E7D"/>
                </a:solidFill>
                <a:latin typeface="PingFang SC"/>
              </a:rPr>
              <a:t>跨域顺序：Retail → Airline → Maintenance / Industrial SOP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导师最可能追问什么？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汇报时主动暴露边界，并给出可验证的回答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1600200"/>
          <a:ext cx="11228831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71231"/>
              </a:tblGrid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可能追问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回答口径</a:t>
                      </a:r>
                    </a:p>
                  </a:txBody>
                  <a:tcPr anchor="ctr">
                    <a:solidFill>
                      <a:srgbClr val="162A3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2C34"/>
                          </a:solidFill>
                          <a:latin typeface="PingFang SC"/>
                        </a:rPr>
                        <a:t>三篇是否只是共享 Action IR？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不是：分别研究治理循环、抽取算法和运行时语义，baseline 与指标独立。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2C34"/>
                          </a:solidFill>
                          <a:latin typeface="PingFang SC"/>
                        </a:rPr>
                        <a:t>Paper 1 有抽取 Agent，为何还要 Paper 2？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Paper 1 把抽取器视为 proposal producer；Paper 2 必须独立证明复杂文档抽取贡献。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2C34"/>
                          </a:solidFill>
                          <a:latin typeface="PingFang SC"/>
                        </a:rPr>
                        <a:t>多 Agent 是否只是拆 prompt？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必须通过角色异质、独立证据、critic、consensus 与 ablation 证明机制收益。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2C34"/>
                          </a:solidFill>
                          <a:latin typeface="PingFang SC"/>
                        </a:rPr>
                        <a:t>公开数据不完整，结果可信吗？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公开集测局部能力；人工 Full Action IR 集测完整语义，两者分开报告。</a:t>
                      </a:r>
                    </a:p>
                  </a:txBody>
                  <a:tcPr marL="54864" marR="36576" marT="27432" marB="27432" anchor="ctr">
                    <a:solidFill>
                      <a:srgbClr val="EBF3F9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2C34"/>
                          </a:solidFill>
                          <a:latin typeface="PingFang SC"/>
                        </a:rPr>
                        <a:t>Paper 3 是否只是规则 verifier？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2C34"/>
                          </a:solidFill>
                          <a:latin typeface="PingFang SC"/>
                        </a:rPr>
                        <a:t>规则来自统一 Action IR，并同时驱动 state、admissibility、repair 和 explanation。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7E7D"/>
                </a:solidFill>
                <a:latin typeface="PingFang SC"/>
              </a:rPr>
              <a:t>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62A3F"/>
                </a:solidFill>
                <a:latin typeface="PingFang SC"/>
              </a:rPr>
              <a:t>这次汇报需要导师提供什么帮助？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B6874"/>
                </a:solidFill>
                <a:latin typeface="PingFang SC"/>
              </a:rPr>
              <a:t>不是泛泛征求意见，而是请求对关键研究资源和边界作出决策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17320"/>
            <a:ext cx="10972800" cy="0"/>
          </a:xfrm>
          <a:prstGeom prst="line">
            <a:avLst/>
          </a:prstGeom>
          <a:ln w="12700">
            <a:solidFill>
              <a:srgbClr val="D3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B6874"/>
                </a:solidFill>
                <a:latin typeface="PingFang SC"/>
              </a:rPr>
              <a:t>Ontology Action Layer 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B6874"/>
                </a:solidFill>
                <a:latin typeface="PingFang SC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72768"/>
            <a:ext cx="52852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1737360"/>
            <a:ext cx="530352" cy="310896"/>
          </a:xfrm>
          <a:prstGeom prst="roundRect">
            <a:avLst>
              <a:gd name="adj" fmla="val 8000"/>
            </a:avLst>
          </a:prstGeom>
          <a:solidFill>
            <a:srgbClr val="147E7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746504"/>
            <a:ext cx="53035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1691640"/>
            <a:ext cx="1508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论文强度判断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057400"/>
            <a:ext cx="4069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B6874"/>
                </a:solidFill>
                <a:latin typeface="PingFang SC"/>
              </a:rPr>
              <a:t>Paper 1 是独立论文，还是大论文统一系统章节？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72768"/>
            <a:ext cx="52852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19672" y="1737360"/>
            <a:ext cx="530352" cy="310896"/>
          </a:xfrm>
          <a:prstGeom prst="roundRect">
            <a:avLst>
              <a:gd name="adj" fmla="val 8000"/>
            </a:avLst>
          </a:prstGeom>
          <a:solidFill>
            <a:srgbClr val="2A67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746504"/>
            <a:ext cx="53035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1691640"/>
            <a:ext cx="1508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场景聚焦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2057400"/>
            <a:ext cx="4069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B6874"/>
                </a:solidFill>
                <a:latin typeface="PingFang SC"/>
              </a:rPr>
              <a:t>Full Action IR Test Set 选维修手册、工业 SOP，还是业务策略？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90088"/>
            <a:ext cx="52852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1" y="3154680"/>
            <a:ext cx="530352" cy="310896"/>
          </a:xfrm>
          <a:prstGeom prst="roundRect">
            <a:avLst>
              <a:gd name="adj" fmla="val 8000"/>
            </a:avLst>
          </a:prstGeom>
          <a:solidFill>
            <a:srgbClr val="D28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163824"/>
            <a:ext cx="53035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3108960"/>
            <a:ext cx="1508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专家资源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3474720"/>
            <a:ext cx="4069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B6874"/>
                </a:solidFill>
                <a:latin typeface="PingFang SC"/>
              </a:rPr>
              <a:t>协调 2–3 名领域专家参与标注、争议裁决和协作成本实验。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990088"/>
            <a:ext cx="52852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19672" y="3154680"/>
            <a:ext cx="530352" cy="310896"/>
          </a:xfrm>
          <a:prstGeom prst="roundRect">
            <a:avLst>
              <a:gd name="adj" fmla="val 8000"/>
            </a:avLst>
          </a:prstGeom>
          <a:solidFill>
            <a:srgbClr val="34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163824"/>
            <a:ext cx="53035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3108960"/>
            <a:ext cx="1508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数据资源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3474720"/>
            <a:ext cx="4069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B6874"/>
                </a:solidFill>
                <a:latin typeface="PingFang SC"/>
              </a:rPr>
              <a:t>争取可公开或匿名发布的 SOP、Schema、API 和变更记录。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07408"/>
            <a:ext cx="52852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1" y="4572000"/>
            <a:ext cx="530352" cy="310896"/>
          </a:xfrm>
          <a:prstGeom prst="roundRect">
            <a:avLst>
              <a:gd name="adj" fmla="val 8000"/>
            </a:avLst>
          </a:prstGeom>
          <a:solidFill>
            <a:srgbClr val="B443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" y="4581144"/>
            <a:ext cx="53035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526280"/>
            <a:ext cx="1508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实验规范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6192" y="4892040"/>
            <a:ext cx="4069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B6874"/>
                </a:solidFill>
                <a:latin typeface="PingFang SC"/>
              </a:rPr>
              <a:t>确认用户实验规模、agreement 统计和伦理审批要求。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407408"/>
            <a:ext cx="52852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6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19672" y="4572000"/>
            <a:ext cx="530352" cy="310896"/>
          </a:xfrm>
          <a:prstGeom prst="roundRect">
            <a:avLst>
              <a:gd name="adj" fmla="val 8000"/>
            </a:avLst>
          </a:prstGeom>
          <a:solidFill>
            <a:srgbClr val="162A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4581144"/>
            <a:ext cx="53035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4526280"/>
            <a:ext cx="1508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A3F"/>
                </a:solidFill>
                <a:latin typeface="PingFang SC"/>
              </a:rPr>
              <a:t>投稿定位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1192" y="4892040"/>
            <a:ext cx="4069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B6874"/>
                </a:solidFill>
                <a:latin typeface="PingFang SC"/>
              </a:rPr>
              <a:t>分别面向 ontology engineering、NLP extraction 和 agent systems。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39" y="6108192"/>
            <a:ext cx="4251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47E7D"/>
                </a:solidFill>
                <a:latin typeface="PingFang SC"/>
              </a:rPr>
              <a:t>谢谢，请批评指正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面向本体动作层的研究：协作构建、文档抽取与智能体执行</dc:title>
  <dc:subject>三篇论文研究体系与实验计划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