
<file path=[Content_Types].xml><?xml version="1.0" encoding="utf-8"?>
<Types xmlns="http://schemas.openxmlformats.org/package/2006/content-types">
  <Default Extension="jpeg" ContentType="image/jpeg"/>
  <Default Extension="JPG" ContentType="image/.jpg"/>
  <Default Extension="xlsx" ContentType="application/vnd.openxmlformats-officedocument.spreadsheetml.sheet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61" r:id="rId4"/>
    <p:sldId id="258" r:id="rId5"/>
    <p:sldId id="259" r:id="rId6"/>
    <p:sldId id="260" r:id="rId7"/>
    <p:sldId id="270" r:id="rId8"/>
    <p:sldId id="257" r:id="rId9"/>
    <p:sldId id="285" r:id="rId10"/>
    <p:sldId id="262" r:id="rId11"/>
    <p:sldId id="265" r:id="rId12"/>
    <p:sldId id="267" r:id="rId13"/>
    <p:sldId id="269" r:id="rId14"/>
    <p:sldId id="271" r:id="rId15"/>
    <p:sldId id="272" r:id="rId16"/>
    <p:sldId id="275" r:id="rId17"/>
    <p:sldId id="276" r:id="rId18"/>
    <p:sldId id="277" r:id="rId19"/>
    <p:sldId id="279" r:id="rId20"/>
    <p:sldId id="280" r:id="rId21"/>
    <p:sldId id="281" r:id="rId22"/>
    <p:sldId id="283" r:id="rId23"/>
    <p:sldId id="284" r:id="rId24"/>
    <p:sldId id="286" r:id="rId25"/>
    <p:sldId id="287" r:id="rId26"/>
    <p:sldId id="289" r:id="rId27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0" Type="http://schemas.openxmlformats.org/officeDocument/2006/relationships/tableStyles" Target="tableStyles.xml"/><Relationship Id="rId3" Type="http://schemas.openxmlformats.org/officeDocument/2006/relationships/slide" Target="slides/slide1.xml"/><Relationship Id="rId29" Type="http://schemas.openxmlformats.org/officeDocument/2006/relationships/viewProps" Target="viewProps.xml"/><Relationship Id="rId28" Type="http://schemas.openxmlformats.org/officeDocument/2006/relationships/presProps" Target="presProps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Success rate</c:v>
                </c:pt>
              </c:strCache>
            </c:strRef>
          </c:tx>
          <c:spPr>
            <a:solidFill>
              <a:srgbClr val="147E7D"/>
            </a:solidFill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8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Schema-Only</c:v>
                </c:pt>
                <c:pt idx="1">
                  <c:v>Typed + Repair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44.9</c:v>
                </c:pt>
                <c:pt idx="1">
                  <c:v>55.7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70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2068027336"/>
        <c:crosses val="autoZero"/>
        <c:crossBetween val="between"/>
        <c:majorUnit val="10"/>
      </c:valAx>
    </c:plotArea>
    <c:plotVisOnly val="1"/>
    <c:dispBlanksAs val="gap"/>
    <c:showDLblsOverMax val="0"/>
  </c:chart>
  <c:txPr>
    <a:bodyPr/>
    <a:lstStyle/>
    <a:p>
      <a:pPr>
        <a:defRPr lang="zh-CN" sz="1800"/>
      </a:pPr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chart" Target="../charts/char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A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E7D"/>
          </a:solidFill>
          <a:ln w="12700">
            <a:solidFill>
              <a:srgbClr val="147E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98448"/>
            <a:ext cx="1042416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PingFang SC" panose="020B0400000000000000" charset="-122"/>
              </a:rPr>
              <a:t>面向本体动作层的研究</a:t>
            </a:r>
            <a:endParaRPr sz="36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95528" y="2377440"/>
            <a:ext cx="1005840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400" b="0">
                <a:solidFill>
                  <a:srgbClr val="C6D8E4"/>
                </a:solidFill>
                <a:latin typeface="PingFang SC" panose="020B0400000000000000" charset="-122"/>
              </a:rPr>
              <a:t>协作构建 · 文档抽取 · 智能体理解与规划</a:t>
            </a:r>
            <a:endParaRPr sz="2400" b="0">
              <a:solidFill>
                <a:srgbClr val="C6D8E4"/>
              </a:solidFill>
              <a:latin typeface="PingFang SC" panose="020B0400000000000000" charset="-122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795528" y="3246120"/>
            <a:ext cx="4416552" cy="0"/>
          </a:xfrm>
          <a:prstGeom prst="line">
            <a:avLst/>
          </a:prstGeom>
          <a:ln w="38100">
            <a:solidFill>
              <a:srgbClr val="147E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8" y="3657600"/>
            <a:ext cx="987552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PingFang SC" panose="020B0400000000000000" charset="-122"/>
              </a:rPr>
              <a:t>研究目标：构建可协作生成、从文档扩充、可供 Agent 理解与执行的本体 Action Layer</a:t>
            </a:r>
            <a:endParaRPr sz="19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95528" y="5989320"/>
            <a:ext cx="6858000" cy="27559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AAC2D2"/>
                </a:solidFill>
                <a:latin typeface="PingFang SC" panose="020B0400000000000000" charset="-122"/>
              </a:rPr>
              <a:t> 2026年6月</a:t>
            </a:r>
            <a:endParaRPr sz="1200" b="0">
              <a:solidFill>
                <a:srgbClr val="AAC2D2"/>
              </a:solidFill>
              <a:latin typeface="PingFang SC" panose="020B0400000000000000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98480" y="5925312"/>
            <a:ext cx="6858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2000" b="1">
                <a:solidFill>
                  <a:srgbClr val="147E7D"/>
                </a:solidFill>
                <a:latin typeface="PingFang SC" panose="020B0400000000000000" charset="-122"/>
              </a:rPr>
              <a:t>01</a:t>
            </a:r>
            <a:endParaRPr sz="2000" b="1">
              <a:solidFill>
                <a:srgbClr val="147E7D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62A3F"/>
                </a:solidFill>
                <a:latin typeface="PingFang SC" panose="020B0400000000000000" charset="-122"/>
              </a:rPr>
              <a:t>核心研究问题</a:t>
            </a:r>
            <a:endParaRPr sz="2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107899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如何把以静态概念描述为主的领域本体，扩展为可构建、可演化、可执行的动作知识层？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94360" y="1417320"/>
            <a:ext cx="10972800" cy="0"/>
          </a:xfrm>
          <a:prstGeom prst="line">
            <a:avLst/>
          </a:prstGeom>
          <a:ln w="12700">
            <a:solidFill>
              <a:srgbClr val="D3DA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21792" y="6510528"/>
            <a:ext cx="4572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800" b="0">
                <a:solidFill>
                  <a:srgbClr val="5B6874"/>
                </a:solidFill>
                <a:latin typeface="PingFang SC" panose="020B0400000000000000" charset="-122"/>
              </a:rPr>
              <a:t>Ontology Action Layer Research Plan</a:t>
            </a:r>
            <a:endParaRPr sz="8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1">
                <a:solidFill>
                  <a:srgbClr val="5B6874"/>
                </a:solidFill>
                <a:latin typeface="PingFang SC" panose="020B0400000000000000" charset="-122"/>
              </a:rPr>
              <a:t>02</a:t>
            </a:r>
            <a:endParaRPr sz="900" b="1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8368" y="1719072"/>
            <a:ext cx="32461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719072"/>
            <a:ext cx="73152" cy="3474720"/>
          </a:xfrm>
          <a:prstGeom prst="rect">
            <a:avLst/>
          </a:prstGeom>
          <a:solidFill>
            <a:srgbClr val="2A679E"/>
          </a:solidFill>
          <a:ln w="12700">
            <a:solidFill>
              <a:srgbClr val="2A67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83664"/>
            <a:ext cx="280720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现有表示断裂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86968" y="2322576"/>
            <a:ext cx="2834639" cy="2724912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700" b="0">
                <a:solidFill>
                  <a:srgbClr val="5B6874"/>
                </a:solidFill>
                <a:latin typeface="PingFang SC" panose="020B0400000000000000" charset="-122"/>
              </a:rPr>
              <a:t>• 本体描述对象、属性和关系</a:t>
            </a:r>
            <a:endParaRPr sz="17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5B6874"/>
                </a:solidFill>
                <a:latin typeface="PingFang SC" panose="020B0400000000000000" charset="-122"/>
              </a:rPr>
              <a:t>• 程序文档描述操作步骤和条件</a:t>
            </a:r>
            <a:endParaRPr sz="17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5B6874"/>
                </a:solidFill>
                <a:latin typeface="PingFang SC" panose="020B0400000000000000" charset="-122"/>
              </a:rPr>
              <a:t>• API Schema 描述调用接口</a:t>
            </a:r>
            <a:endParaRPr sz="17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700" b="0">
                <a:solidFill>
                  <a:srgbClr val="5B6874"/>
                </a:solidFill>
                <a:latin typeface="PingFang SC" panose="020B0400000000000000" charset="-122"/>
              </a:rPr>
              <a:t>• Agent 运行时维护临时状态</a:t>
            </a:r>
            <a:endParaRPr sz="17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023360" y="2944368"/>
            <a:ext cx="59436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3000" b="1">
                <a:solidFill>
                  <a:srgbClr val="147E7D"/>
                </a:solidFill>
                <a:latin typeface="PingFang SC" panose="020B0400000000000000" charset="-122"/>
              </a:rPr>
              <a:t>→</a:t>
            </a:r>
            <a:endParaRPr sz="3000" b="1">
              <a:solidFill>
                <a:srgbClr val="147E7D"/>
              </a:solidFill>
              <a:latin typeface="PingFang SC" panose="020B0400000000000000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663440" y="1719072"/>
            <a:ext cx="32461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3440" y="1719072"/>
            <a:ext cx="73152" cy="3474720"/>
          </a:xfrm>
          <a:prstGeom prst="rect">
            <a:avLst/>
          </a:prstGeom>
          <a:solidFill>
            <a:srgbClr val="147E7D"/>
          </a:solidFill>
          <a:ln w="12700">
            <a:solidFill>
              <a:srgbClr val="147E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9472" y="1883664"/>
            <a:ext cx="280720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Action Layer 要统一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892040" y="2322576"/>
            <a:ext cx="2834639" cy="2724912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5B6874"/>
                </a:solidFill>
                <a:latin typeface="PingFang SC" panose="020B0400000000000000" charset="-122"/>
              </a:rPr>
              <a:t>• 动作作用对象和参数角色</a:t>
            </a:r>
            <a:endParaRPr sz="16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5B6874"/>
                </a:solidFill>
                <a:latin typeface="PingFang SC" panose="020B0400000000000000" charset="-122"/>
              </a:rPr>
              <a:t>• 前置状态、约束和执行效果</a:t>
            </a:r>
            <a:endParaRPr sz="16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5B6874"/>
                </a:solidFill>
                <a:latin typeface="PingFang SC" panose="020B0400000000000000" charset="-122"/>
              </a:rPr>
              <a:t>• 文档证据与本体 grounding</a:t>
            </a:r>
            <a:endParaRPr sz="16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5B6874"/>
                </a:solidFill>
                <a:latin typeface="PingFang SC" panose="020B0400000000000000" charset="-122"/>
              </a:rPr>
              <a:t>• 版本演化与运行反馈</a:t>
            </a:r>
            <a:endParaRPr sz="16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028431" y="2944368"/>
            <a:ext cx="59436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3000" b="1">
                <a:solidFill>
                  <a:srgbClr val="D28B23"/>
                </a:solidFill>
                <a:latin typeface="PingFang SC" panose="020B0400000000000000" charset="-122"/>
              </a:rPr>
              <a:t>→</a:t>
            </a:r>
            <a:endParaRPr sz="3000" b="1">
              <a:solidFill>
                <a:srgbClr val="D28B23"/>
              </a:solidFill>
              <a:latin typeface="PingFang SC" panose="020B0400000000000000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668512" y="1719072"/>
            <a:ext cx="288036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68512" y="1719072"/>
            <a:ext cx="73152" cy="3474720"/>
          </a:xfrm>
          <a:prstGeom prst="rect">
            <a:avLst/>
          </a:prstGeom>
          <a:solidFill>
            <a:srgbClr val="D28B23"/>
          </a:solidFill>
          <a:ln w="12700">
            <a:solidFill>
              <a:srgbClr val="D28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24544" y="1883664"/>
            <a:ext cx="24414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三个研究问题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897112" y="2322576"/>
            <a:ext cx="2468879" cy="2724912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5B6874"/>
                </a:solidFill>
                <a:latin typeface="PingFang SC" panose="020B0400000000000000" charset="-122"/>
              </a:rPr>
              <a:t>• 如何协作构建和演化？</a:t>
            </a:r>
            <a:endParaRPr sz="16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5B6874"/>
                </a:solidFill>
                <a:latin typeface="PingFang SC" panose="020B0400000000000000" charset="-122"/>
              </a:rPr>
              <a:t>• 如何从文档获取？</a:t>
            </a:r>
            <a:endParaRPr sz="16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5B6874"/>
                </a:solidFill>
                <a:latin typeface="PingFang SC" panose="020B0400000000000000" charset="-122"/>
              </a:rPr>
              <a:t>• 如何供 Agent 理解与执行？</a:t>
            </a:r>
            <a:endParaRPr sz="16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5B6874"/>
                </a:solidFill>
                <a:latin typeface="PingFang SC" panose="020B0400000000000000" charset="-122"/>
              </a:rPr>
              <a:t>• 三者如何形成递进链条？</a:t>
            </a:r>
            <a:endParaRPr sz="16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1234440" y="5504688"/>
            <a:ext cx="9692640" cy="502920"/>
          </a:xfrm>
          <a:prstGeom prst="roundRect">
            <a:avLst>
              <a:gd name="adj" fmla="val 8000"/>
            </a:avLst>
          </a:prstGeom>
          <a:solidFill>
            <a:srgbClr val="FAEDEC"/>
          </a:solidFill>
          <a:ln w="12700">
            <a:solidFill>
              <a:srgbClr val="B443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17320" y="5623560"/>
            <a:ext cx="9326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B4433E"/>
                </a:solidFill>
                <a:latin typeface="PingFang SC" panose="020B0400000000000000" charset="-122"/>
              </a:rPr>
              <a:t>大论文主线：动作知识的表示、获取、演化与运行时使用，而不是单一 benchmark 的安全约束。</a:t>
            </a:r>
            <a:endParaRPr sz="1500" b="1">
              <a:solidFill>
                <a:srgbClr val="B4433E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62A3F"/>
                </a:solidFill>
                <a:latin typeface="PingFang SC" panose="020B0400000000000000" charset="-122"/>
              </a:rPr>
              <a:t>国内外研究现状</a:t>
            </a:r>
            <a:endParaRPr sz="2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107899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合并比较需求工程、动作抽取、运行约束与国内产业实践；六类内容完整保留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94360" y="1417320"/>
            <a:ext cx="10972800" cy="0"/>
          </a:xfrm>
          <a:prstGeom prst="line">
            <a:avLst/>
          </a:prstGeom>
          <a:ln w="12700">
            <a:solidFill>
              <a:srgbClr val="D3DA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21792" y="6510528"/>
            <a:ext cx="4572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800" b="0">
                <a:solidFill>
                  <a:srgbClr val="5B6874"/>
                </a:solidFill>
                <a:latin typeface="PingFang SC" panose="020B0400000000000000" charset="-122"/>
              </a:rPr>
              <a:t>Ontology Action Layer Research Plan</a:t>
            </a:r>
            <a:endParaRPr sz="8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1">
                <a:solidFill>
                  <a:srgbClr val="5B6874"/>
                </a:solidFill>
                <a:latin typeface="PingFang SC" panose="020B0400000000000000" charset="-122"/>
              </a:rPr>
              <a:t>03</a:t>
            </a:r>
            <a:endParaRPr sz="900" b="1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10896" y="1481328"/>
          <a:ext cx="11567160" cy="4553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2240280"/>
                <a:gridCol w="5230368"/>
                <a:gridCol w="3438144"/>
              </a:tblGrid>
              <a:tr h="65053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ingFang SC" panose="020B0400000000000000" charset="-122"/>
                        </a:rPr>
                        <a:t>区域</a:t>
                      </a:r>
                      <a:endParaRPr sz="900" b="1">
                        <a:solidFill>
                          <a:srgbClr val="FFFFFF"/>
                        </a:solidFill>
                        <a:latin typeface="PingFang SC" panose="020B0400000000000000" charset="-122"/>
                      </a:endParaRPr>
                    </a:p>
                  </a:txBody>
                  <a:tcPr anchor="ctr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ingFang SC" panose="020B0400000000000000" charset="-122"/>
                        </a:rPr>
                        <a:t>研究方向</a:t>
                      </a:r>
                      <a:endParaRPr sz="900" b="1">
                        <a:solidFill>
                          <a:srgbClr val="FFFFFF"/>
                        </a:solidFill>
                        <a:latin typeface="PingFang SC" panose="020B0400000000000000" charset="-122"/>
                      </a:endParaRPr>
                    </a:p>
                  </a:txBody>
                  <a:tcPr anchor="ctr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ingFang SC" panose="020B0400000000000000" charset="-122"/>
                        </a:rPr>
                        <a:t>已有代表工作 / 实践</a:t>
                      </a:r>
                      <a:endParaRPr sz="900" b="1">
                        <a:solidFill>
                          <a:srgbClr val="FFFFFF"/>
                        </a:solidFill>
                        <a:latin typeface="PingFang SC" panose="020B0400000000000000" charset="-122"/>
                      </a:endParaRPr>
                    </a:p>
                  </a:txBody>
                  <a:tcPr anchor="ctr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ingFang SC" panose="020B0400000000000000" charset="-122"/>
                        </a:rPr>
                        <a:t>本研究切入点</a:t>
                      </a:r>
                      <a:endParaRPr sz="900" b="1">
                        <a:solidFill>
                          <a:srgbClr val="FFFFFF"/>
                        </a:solidFill>
                        <a:latin typeface="PingFang SC" panose="020B0400000000000000" charset="-122"/>
                      </a:endParaRPr>
                    </a:p>
                  </a:txBody>
                  <a:tcPr anchor="ctr">
                    <a:solidFill>
                      <a:srgbClr val="162A3F"/>
                    </a:solidFill>
                  </a:tcPr>
                </a:tc>
              </a:tr>
              <a:tr h="65053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国外</a:t>
                      </a:r>
                      <a:endParaRPr sz="900" b="1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本体构建与协作演化</a:t>
                      </a:r>
                      <a:endParaRPr sz="9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DILIGENT / NeOn：分布式贡献与版本演化；HyWay / IDEA2：LLM + 专家验证与共识；CQ / ORSD：需求与范围验证</a:t>
                      </a:r>
                      <a:endParaRPr sz="9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缺动作 Patch、执行验证和运行反馈重验证</a:t>
                      </a:r>
                      <a:endParaRPr sz="9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</a:tr>
              <a:tr h="65053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国外</a:t>
                      </a:r>
                      <a:endParaRPr sz="900" b="1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EBF3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程序文档与流程抽取</a:t>
                      </a:r>
                      <a:endParaRPr sz="9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EBF3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Text2Event / PET：事件、参与者和流程；PAGED / Universal Prompting：程序图；OMPD / NL2ProcessOps：工业程序与执行连接</a:t>
                      </a:r>
                      <a:endParaRPr sz="9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EBF3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缺已有本体 grounding 与完整 Action IR</a:t>
                      </a:r>
                      <a:endParaRPr sz="9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EBF3F9"/>
                    </a:solidFill>
                  </a:tcPr>
                </a:tc>
              </a:tr>
              <a:tr h="65053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国外</a:t>
                      </a:r>
                      <a:endParaRPr sz="900" b="1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工具智能体与运行约束</a:t>
                      </a:r>
                      <a:endParaRPr sz="9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ToolRerank / ToolLLM：工具选择；tau-bench / ToolSandbox / WorkArena：有状态评测；AgentSpec / Progent：运行规则</a:t>
                      </a:r>
                      <a:endParaRPr sz="9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缺本体状态驱动校验、修复和解释</a:t>
                      </a:r>
                      <a:endParaRPr sz="9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</a:tr>
              <a:tr h="65053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国内</a:t>
                      </a:r>
                      <a:endParaRPr sz="900" b="1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EBF3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工业本体与知识图谱</a:t>
                      </a:r>
                      <a:endParaRPr sz="9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EBF3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描述设备、部件、工艺和故障；用于查询、诊断、推荐和数据治理</a:t>
                      </a:r>
                      <a:endParaRPr sz="9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EBF3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补动作对象、角色、状态和效果；公开表示与实验</a:t>
                      </a:r>
                      <a:endParaRPr sz="9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EBF3F9"/>
                    </a:solidFill>
                  </a:tcPr>
                </a:tc>
              </a:tr>
              <a:tr h="65053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国内</a:t>
                      </a:r>
                      <a:endParaRPr sz="900" b="1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SOP / 流程数字化</a:t>
                      </a:r>
                      <a:endParaRPr sz="9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输入工艺文档、维修手册和业务规程；输出实体关系、步骤、BPMN 或流程图</a:t>
                      </a:r>
                      <a:endParaRPr sz="9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补 ontology IDs、evidence、unresolved；Full IR 金标</a:t>
                      </a:r>
                      <a:endParaRPr sz="9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</a:tr>
              <a:tr h="65053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国内</a:t>
                      </a:r>
                      <a:endParaRPr sz="900" b="1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EBF3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行业智能体与工具调用</a:t>
                      </a:r>
                      <a:endParaRPr sz="9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EBF3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采用 RAG、工具编排、工作流和平台规则；规则多位于 Prompt、代码或配置</a:t>
                      </a:r>
                      <a:endParaRPr sz="9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EBF3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规则来源于 Action IR；schema / ontology_full 对照</a:t>
                      </a:r>
                      <a:endParaRPr sz="9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EBF3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68680" y="6108192"/>
            <a:ext cx="1046988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>
                <a:solidFill>
                  <a:srgbClr val="B4433E"/>
                </a:solidFill>
                <a:latin typeface="PingFang SC" panose="020B0400000000000000" charset="-122"/>
              </a:rPr>
              <a:t>共同缺口：缺少公开 Action IR 契约，以及分别覆盖协作构建、文档抽取和 Agent 执行的可复现实验。</a:t>
            </a:r>
            <a:endParaRPr sz="1200" b="1">
              <a:solidFill>
                <a:srgbClr val="B4433E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62A3F"/>
                </a:solidFill>
                <a:latin typeface="PingFang SC" panose="020B0400000000000000" charset="-122"/>
              </a:rPr>
              <a:t>Palantir：最重要的产业参照</a:t>
            </a:r>
            <a:endParaRPr sz="2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107899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其 Ontology 已把语义模型与可执行动作统一到 operational layer；本研究必须正面说明继承点与学术增量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94360" y="1417320"/>
            <a:ext cx="10972800" cy="0"/>
          </a:xfrm>
          <a:prstGeom prst="line">
            <a:avLst/>
          </a:prstGeom>
          <a:ln w="12700">
            <a:solidFill>
              <a:srgbClr val="D3DA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21792" y="6510528"/>
            <a:ext cx="4572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800" b="0">
                <a:solidFill>
                  <a:srgbClr val="5B6874"/>
                </a:solidFill>
                <a:latin typeface="PingFang SC" panose="020B0400000000000000" charset="-122"/>
              </a:rPr>
              <a:t>Ontology Action Layer Research Plan</a:t>
            </a:r>
            <a:endParaRPr sz="8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1">
                <a:solidFill>
                  <a:srgbClr val="5B6874"/>
                </a:solidFill>
                <a:latin typeface="PingFang SC" panose="020B0400000000000000" charset="-122"/>
              </a:rPr>
              <a:t>04</a:t>
            </a:r>
            <a:endParaRPr sz="900" b="1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30352" y="1572768"/>
            <a:ext cx="3493008" cy="3401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0352" y="1572768"/>
            <a:ext cx="73152" cy="3401568"/>
          </a:xfrm>
          <a:prstGeom prst="rect">
            <a:avLst/>
          </a:prstGeom>
          <a:solidFill>
            <a:srgbClr val="2A679E"/>
          </a:solidFill>
          <a:ln w="12700">
            <a:solidFill>
              <a:srgbClr val="2A67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737360"/>
            <a:ext cx="3054096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Semantic Layer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58952" y="2176272"/>
            <a:ext cx="3081527" cy="2651760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• Object Types / Properties / Link Types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• 连接数据、模型与现实业务对象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• 可表达设备、产品、订单和交易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• 安全、权限和变更治理贯穿对象层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352544" y="1572768"/>
            <a:ext cx="3493008" cy="3401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2544" y="1572768"/>
            <a:ext cx="73152" cy="3401568"/>
          </a:xfrm>
          <a:prstGeom prst="rect">
            <a:avLst/>
          </a:prstGeom>
          <a:solidFill>
            <a:srgbClr val="147E7D"/>
          </a:solidFill>
          <a:ln w="12700">
            <a:solidFill>
              <a:srgbClr val="147E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8576" y="1737360"/>
            <a:ext cx="3054096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Kinetic Layer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81144" y="2176272"/>
            <a:ext cx="3081527" cy="2651760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• Action Types：一次事务修改对象、属性和链接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• Parameters + Rules + Submission Criteria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• Functions 承载可演化业务逻辑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• Side Effects：通知、Webhook 等外部效果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174736" y="1572768"/>
            <a:ext cx="3493008" cy="3401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74736" y="1572768"/>
            <a:ext cx="73152" cy="3401568"/>
          </a:xfrm>
          <a:prstGeom prst="rect">
            <a:avLst/>
          </a:prstGeom>
          <a:solidFill>
            <a:srgbClr val="D28B23"/>
          </a:solidFill>
          <a:ln w="12700">
            <a:solidFill>
              <a:srgbClr val="D28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7" y="1737360"/>
            <a:ext cx="3054096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Operational Governance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403336" y="2176272"/>
            <a:ext cx="3081527" cy="2651760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• 同一动作逻辑在多个应用中复用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• Permissions、Monitoring、Metrics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• Action Log 支持审计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• Undo / Revert 与 Action Type branching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58368" y="5230368"/>
            <a:ext cx="10972800" cy="932688"/>
          </a:xfrm>
          <a:prstGeom prst="roundRect">
            <a:avLst>
              <a:gd name="adj" fmla="val 8000"/>
            </a:avLst>
          </a:prstGeom>
          <a:solidFill>
            <a:srgbClr val="FAEDEC"/>
          </a:solidFill>
          <a:ln w="12700">
            <a:solidFill>
              <a:srgbClr val="B443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349240"/>
            <a:ext cx="1828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B4433E"/>
                </a:solidFill>
                <a:latin typeface="PingFang SC" panose="020B0400000000000000" charset="-122"/>
              </a:rPr>
              <a:t>本研究不能声称</a:t>
            </a:r>
            <a:endParaRPr sz="1300" b="1">
              <a:solidFill>
                <a:srgbClr val="B4433E"/>
              </a:solidFill>
              <a:latin typeface="PingFang SC" panose="020B0400000000000000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450592" y="5321808"/>
            <a:ext cx="3246120" cy="5669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0">
                <a:solidFill>
                  <a:srgbClr val="242C34"/>
                </a:solidFill>
                <a:latin typeface="PingFang SC" panose="020B0400000000000000" charset="-122"/>
              </a:rPr>
              <a:t>首次在本体中定义动作、参数、规则、效果或审计。</a:t>
            </a:r>
            <a:endParaRPr sz="1200" b="0">
              <a:solidFill>
                <a:srgbClr val="242C34"/>
              </a:solidFill>
              <a:latin typeface="PingFang SC" panose="020B0400000000000000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715000" y="5349240"/>
            <a:ext cx="16002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47E7D"/>
                </a:solidFill>
                <a:latin typeface="PingFang SC" panose="020B0400000000000000" charset="-122"/>
              </a:rPr>
              <a:t>真正学术增量</a:t>
            </a:r>
            <a:endParaRPr sz="1300" b="1">
              <a:solidFill>
                <a:srgbClr val="147E7D"/>
              </a:solidFill>
              <a:latin typeface="PingFang SC" panose="020B0400000000000000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150608" y="5266944"/>
            <a:ext cx="4160520" cy="6583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0">
                <a:solidFill>
                  <a:srgbClr val="242C34"/>
                </a:solidFill>
                <a:latin typeface="PingFang SC" panose="020B0400000000000000" charset="-122"/>
              </a:rPr>
              <a:t>公开 Action IR；从文档和多源证据生成；协作验证与演化；在 tau2 等 benchmark 上量化 Agent 执行收益。</a:t>
            </a:r>
            <a:endParaRPr sz="1200" b="0">
              <a:solidFill>
                <a:srgbClr val="242C34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62A3F"/>
                </a:solidFill>
                <a:latin typeface="PingFang SC" panose="020B0400000000000000" charset="-122"/>
              </a:rPr>
              <a:t>大论文框架</a:t>
            </a:r>
            <a:endParaRPr sz="2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107899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每章必须有明确输入、输出和证据，不能只靠共享术语形成体系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94360" y="1417320"/>
            <a:ext cx="10972800" cy="0"/>
          </a:xfrm>
          <a:prstGeom prst="line">
            <a:avLst/>
          </a:prstGeom>
          <a:ln w="12700">
            <a:solidFill>
              <a:srgbClr val="D3DA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21792" y="6510528"/>
            <a:ext cx="4572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800" b="0">
                <a:solidFill>
                  <a:srgbClr val="5B6874"/>
                </a:solidFill>
                <a:latin typeface="PingFang SC" panose="020B0400000000000000" charset="-122"/>
              </a:rPr>
              <a:t>Ontology Action Layer Research Plan</a:t>
            </a:r>
            <a:endParaRPr sz="8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1">
                <a:solidFill>
                  <a:srgbClr val="5B6874"/>
                </a:solidFill>
                <a:latin typeface="PingFang SC" panose="020B0400000000000000" charset="-122"/>
              </a:rPr>
              <a:t>05</a:t>
            </a:r>
            <a:endParaRPr sz="900" b="1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31520" y="1627632"/>
            <a:ext cx="52578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7E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32688" y="1792224"/>
            <a:ext cx="585216" cy="310896"/>
          </a:xfrm>
          <a:prstGeom prst="roundRect">
            <a:avLst>
              <a:gd name="adj" fmla="val 8000"/>
            </a:avLst>
          </a:prstGeom>
          <a:solidFill>
            <a:srgbClr val="147E7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801368"/>
            <a:ext cx="585216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01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91640" y="1773936"/>
            <a:ext cx="2057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62A3F"/>
                </a:solidFill>
                <a:latin typeface="PingFang SC" panose="020B0400000000000000" charset="-122"/>
              </a:rPr>
              <a:t>绪论</a:t>
            </a:r>
            <a:endParaRPr sz="16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691640" y="2157984"/>
            <a:ext cx="393192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问题、研究目标与总体框架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446520" y="1627632"/>
            <a:ext cx="52578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67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647688" y="1792224"/>
            <a:ext cx="585216" cy="310896"/>
          </a:xfrm>
          <a:prstGeom prst="roundRect">
            <a:avLst>
              <a:gd name="adj" fmla="val 8000"/>
            </a:avLst>
          </a:prstGeom>
          <a:solidFill>
            <a:srgbClr val="2A679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7688" y="1801368"/>
            <a:ext cx="585216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02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406640" y="1773936"/>
            <a:ext cx="2057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62A3F"/>
                </a:solidFill>
                <a:latin typeface="PingFang SC" panose="020B0400000000000000" charset="-122"/>
              </a:rPr>
              <a:t>Action IR</a:t>
            </a:r>
            <a:endParaRPr sz="16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406640" y="2157984"/>
            <a:ext cx="393192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字段契约、编译规则、跨域边界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731520" y="3044952"/>
            <a:ext cx="52578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2688" y="3209544"/>
            <a:ext cx="585216" cy="310896"/>
          </a:xfrm>
          <a:prstGeom prst="roundRect">
            <a:avLst>
              <a:gd name="adj" fmla="val 8000"/>
            </a:avLst>
          </a:prstGeom>
          <a:solidFill>
            <a:srgbClr val="34845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218688"/>
            <a:ext cx="585216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03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691640" y="3191256"/>
            <a:ext cx="2057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62A3F"/>
                </a:solidFill>
                <a:latin typeface="PingFang SC" panose="020B0400000000000000" charset="-122"/>
              </a:rPr>
              <a:t>协作式数据本体生成</a:t>
            </a:r>
            <a:endParaRPr sz="16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691640" y="3575304"/>
            <a:ext cx="393192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Live Schema → Versioned Data Ontology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6446520" y="3044952"/>
            <a:ext cx="52578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28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647688" y="3209544"/>
            <a:ext cx="585216" cy="310896"/>
          </a:xfrm>
          <a:prstGeom prst="roundRect">
            <a:avLst>
              <a:gd name="adj" fmla="val 8000"/>
            </a:avLst>
          </a:prstGeom>
          <a:solidFill>
            <a:srgbClr val="D28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47688" y="3218688"/>
            <a:ext cx="585216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04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406640" y="3191256"/>
            <a:ext cx="2057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62A3F"/>
                </a:solidFill>
                <a:latin typeface="PingFang SC" panose="020B0400000000000000" charset="-122"/>
              </a:rPr>
              <a:t>文档抽取</a:t>
            </a:r>
            <a:endParaRPr sz="16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406640" y="3575304"/>
            <a:ext cx="393192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Document + Ontology → IR Patch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731520" y="4462272"/>
            <a:ext cx="52578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43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32688" y="4626864"/>
            <a:ext cx="585216" cy="310896"/>
          </a:xfrm>
          <a:prstGeom prst="roundRect">
            <a:avLst>
              <a:gd name="adj" fmla="val 8000"/>
            </a:avLst>
          </a:prstGeom>
          <a:solidFill>
            <a:srgbClr val="B4433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4636007"/>
            <a:ext cx="585216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05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691640" y="4608576"/>
            <a:ext cx="2057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62A3F"/>
                </a:solidFill>
                <a:latin typeface="PingFang SC" panose="020B0400000000000000" charset="-122"/>
              </a:rPr>
              <a:t>运行时语义</a:t>
            </a:r>
            <a:endParaRPr sz="16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691640" y="4992624"/>
            <a:ext cx="393192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ActionBank + State → Execute / Repair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446520" y="4462272"/>
            <a:ext cx="52578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7E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647688" y="4626864"/>
            <a:ext cx="585216" cy="310896"/>
          </a:xfrm>
          <a:prstGeom prst="roundRect">
            <a:avLst>
              <a:gd name="adj" fmla="val 8000"/>
            </a:avLst>
          </a:prstGeom>
          <a:solidFill>
            <a:srgbClr val="147E7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47688" y="4636007"/>
            <a:ext cx="585216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06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406640" y="4608576"/>
            <a:ext cx="2057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62A3F"/>
                </a:solidFill>
                <a:latin typeface="PingFang SC" panose="020B0400000000000000" charset="-122"/>
              </a:rPr>
              <a:t>统一评估</a:t>
            </a:r>
            <a:endParaRPr sz="16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406640" y="4992624"/>
            <a:ext cx="393192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质量、成本、成功率与运行开销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62A3F"/>
                </a:solidFill>
                <a:latin typeface="PingFang SC" panose="020B0400000000000000" charset="-122"/>
              </a:rPr>
              <a:t>论文关系与推进顺序</a:t>
            </a:r>
            <a:endParaRPr sz="2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107899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Paper 1 构建对象/关系基础层；Paper 2、3 聚焦 Action Layer 的获取与运行使用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94360" y="1417320"/>
            <a:ext cx="10972800" cy="0"/>
          </a:xfrm>
          <a:prstGeom prst="line">
            <a:avLst/>
          </a:prstGeom>
          <a:ln w="12700">
            <a:solidFill>
              <a:srgbClr val="D3DA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21792" y="6510528"/>
            <a:ext cx="4572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800" b="0">
                <a:solidFill>
                  <a:srgbClr val="5B6874"/>
                </a:solidFill>
                <a:latin typeface="PingFang SC" panose="020B0400000000000000" charset="-122"/>
              </a:rPr>
              <a:t>Ontology Action Layer Research Plan</a:t>
            </a:r>
            <a:endParaRPr sz="8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1">
                <a:solidFill>
                  <a:srgbClr val="5B6874"/>
                </a:solidFill>
                <a:latin typeface="PingFang SC" panose="020B0400000000000000" charset="-122"/>
              </a:rPr>
              <a:t>06</a:t>
            </a:r>
            <a:endParaRPr sz="900" b="1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5800" y="1719072"/>
            <a:ext cx="12801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62A3F"/>
                </a:solidFill>
                <a:latin typeface="PingFang SC" panose="020B0400000000000000" charset="-122"/>
              </a:rPr>
              <a:t>逻辑顺序</a:t>
            </a:r>
            <a:endParaRPr sz="16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920240" y="1572768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78608" y="1737360"/>
            <a:ext cx="1280160" cy="310896"/>
          </a:xfrm>
          <a:prstGeom prst="roundRect">
            <a:avLst>
              <a:gd name="adj" fmla="val 8000"/>
            </a:avLst>
          </a:prstGeom>
          <a:solidFill>
            <a:srgbClr val="34845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8608" y="1746504"/>
            <a:ext cx="128016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Paper 1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084832" y="2267712"/>
            <a:ext cx="2276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162A3F"/>
                </a:solidFill>
                <a:latin typeface="PingFang SC" panose="020B0400000000000000" charset="-122"/>
              </a:rPr>
              <a:t>Live Schema → Data Ontology</a:t>
            </a:r>
            <a:endParaRPr sz="13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4553712" y="2194560"/>
            <a:ext cx="429768" cy="0"/>
          </a:xfrm>
          <a:prstGeom prst="line">
            <a:avLst/>
          </a:prstGeom>
          <a:ln w="30480">
            <a:solidFill>
              <a:srgbClr val="3484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074920" y="1572768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7E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733288" y="1737360"/>
            <a:ext cx="1280160" cy="310896"/>
          </a:xfrm>
          <a:prstGeom prst="roundRect">
            <a:avLst>
              <a:gd name="adj" fmla="val 8000"/>
            </a:avLst>
          </a:prstGeom>
          <a:solidFill>
            <a:srgbClr val="147E7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33288" y="1746504"/>
            <a:ext cx="128016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Paper 2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239512" y="2267712"/>
            <a:ext cx="2276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162A3F"/>
                </a:solidFill>
                <a:latin typeface="PingFang SC" panose="020B0400000000000000" charset="-122"/>
              </a:rPr>
              <a:t>Document + Ontology → Action IR</a:t>
            </a:r>
            <a:endParaRPr sz="13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7708392" y="2194560"/>
            <a:ext cx="429768" cy="0"/>
          </a:xfrm>
          <a:prstGeom prst="line">
            <a:avLst/>
          </a:prstGeom>
          <a:ln w="30480">
            <a:solidFill>
              <a:srgbClr val="147E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0" y="1572768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28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887968" y="1737360"/>
            <a:ext cx="1280160" cy="310896"/>
          </a:xfrm>
          <a:prstGeom prst="roundRect">
            <a:avLst>
              <a:gd name="adj" fmla="val 8000"/>
            </a:avLst>
          </a:prstGeom>
          <a:solidFill>
            <a:srgbClr val="D28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87968" y="1746504"/>
            <a:ext cx="128016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Paper 3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394192" y="2267712"/>
            <a:ext cx="227685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162A3F"/>
                </a:solidFill>
                <a:latin typeface="PingFang SC" panose="020B0400000000000000" charset="-122"/>
              </a:rPr>
              <a:t>IR → ActionBank → Execution</a:t>
            </a:r>
            <a:endParaRPr sz="13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291840"/>
            <a:ext cx="10789920" cy="0"/>
          </a:xfrm>
          <a:prstGeom prst="line">
            <a:avLst/>
          </a:prstGeom>
          <a:ln w="15240">
            <a:solidFill>
              <a:srgbClr val="D3DA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3703320"/>
            <a:ext cx="12801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62A3F"/>
                </a:solidFill>
                <a:latin typeface="PingFang SC" panose="020B0400000000000000" charset="-122"/>
              </a:rPr>
              <a:t>推进顺序</a:t>
            </a:r>
            <a:endParaRPr sz="16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1920240" y="3566160"/>
            <a:ext cx="26060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28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578608" y="3730752"/>
            <a:ext cx="1280160" cy="310896"/>
          </a:xfrm>
          <a:prstGeom prst="roundRect">
            <a:avLst>
              <a:gd name="adj" fmla="val 8000"/>
            </a:avLst>
          </a:prstGeom>
          <a:solidFill>
            <a:srgbClr val="D28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78608" y="373989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Paper 3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084832" y="4297680"/>
            <a:ext cx="2276856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先完成修复版全量试验
判断是否有稳定任务级收益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29" name="Connector 28"/>
          <p:cNvCxnSpPr/>
          <p:nvPr/>
        </p:nvCxnSpPr>
        <p:spPr>
          <a:xfrm>
            <a:off x="4553712" y="4343400"/>
            <a:ext cx="429768" cy="0"/>
          </a:xfrm>
          <a:prstGeom prst="line">
            <a:avLst/>
          </a:prstGeom>
          <a:ln w="30480">
            <a:solidFill>
              <a:srgbClr val="D28B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074920" y="3566160"/>
            <a:ext cx="26060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7E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733288" y="3730752"/>
            <a:ext cx="1280160" cy="310896"/>
          </a:xfrm>
          <a:prstGeom prst="roundRect">
            <a:avLst>
              <a:gd name="adj" fmla="val 8000"/>
            </a:avLst>
          </a:prstGeom>
          <a:solidFill>
            <a:srgbClr val="147E7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33288" y="373989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Paper 2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239512" y="4297680"/>
            <a:ext cx="2276856" cy="46037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修复当前评测缺陷
建立完整 </a:t>
            </a:r>
            <a:r>
              <a:rPr sz="1200">
                <a:solidFill>
                  <a:srgbClr val="5B6874"/>
                </a:solidFill>
                <a:latin typeface="PingFang SC" panose="020B0400000000000000" charset="-122"/>
                <a:sym typeface="+mn-ea"/>
              </a:rPr>
              <a:t>Action IR 金标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34" name="Connector 33"/>
          <p:cNvCxnSpPr/>
          <p:nvPr/>
        </p:nvCxnSpPr>
        <p:spPr>
          <a:xfrm>
            <a:off x="7708392" y="4343400"/>
            <a:ext cx="429768" cy="0"/>
          </a:xfrm>
          <a:prstGeom prst="line">
            <a:avLst/>
          </a:prstGeom>
          <a:ln w="30480">
            <a:solidFill>
              <a:srgbClr val="147E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229600" y="3566160"/>
            <a:ext cx="26060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87968" y="3730752"/>
            <a:ext cx="1280160" cy="310896"/>
          </a:xfrm>
          <a:prstGeom prst="roundRect">
            <a:avLst>
              <a:gd name="adj" fmla="val 8000"/>
            </a:avLst>
          </a:prstGeom>
          <a:solidFill>
            <a:srgbClr val="34845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87968" y="3739896"/>
            <a:ext cx="128016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Paper 1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8394192" y="4297680"/>
            <a:ext cx="2276856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仅在前两篇证据成立后
投入专家协作实验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" y="502920"/>
            <a:ext cx="10972800" cy="50673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62A3F"/>
                </a:solidFill>
                <a:latin typeface="PingFang SC" panose="020B0400000000000000" charset="-122"/>
              </a:rPr>
              <a:t>当前</a:t>
            </a:r>
            <a:r>
              <a:rPr lang="zh-CN" sz="2700" b="1">
                <a:solidFill>
                  <a:srgbClr val="162A3F"/>
                </a:solidFill>
                <a:latin typeface="PingFang SC" panose="020B0400000000000000" charset="-122"/>
              </a:rPr>
              <a:t>实验进度</a:t>
            </a:r>
            <a:endParaRPr lang="zh-CN" sz="2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107899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在明确研究问题和总体框架后，说明已有实现、初步证据和待决策事项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94360" y="1417320"/>
            <a:ext cx="10972800" cy="0"/>
          </a:xfrm>
          <a:prstGeom prst="line">
            <a:avLst/>
          </a:prstGeom>
          <a:ln w="12700">
            <a:solidFill>
              <a:srgbClr val="D3DA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21792" y="6510528"/>
            <a:ext cx="4572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800" b="0">
                <a:solidFill>
                  <a:srgbClr val="5B6874"/>
                </a:solidFill>
                <a:latin typeface="PingFang SC" panose="020B0400000000000000" charset="-122"/>
              </a:rPr>
              <a:t>Ontology Action Layer Research Plan</a:t>
            </a:r>
            <a:endParaRPr sz="8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1">
                <a:solidFill>
                  <a:srgbClr val="5B6874"/>
                </a:solidFill>
                <a:latin typeface="PingFang SC" panose="020B0400000000000000" charset="-122"/>
              </a:rPr>
              <a:t>07</a:t>
            </a:r>
            <a:endParaRPr sz="900" b="1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8368" y="1691640"/>
            <a:ext cx="333756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691640"/>
            <a:ext cx="73152" cy="4160520"/>
          </a:xfrm>
          <a:prstGeom prst="rect">
            <a:avLst/>
          </a:prstGeom>
          <a:solidFill>
            <a:srgbClr val="147E7D"/>
          </a:solidFill>
          <a:ln w="12700">
            <a:solidFill>
              <a:srgbClr val="147E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56232"/>
            <a:ext cx="28986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已经完成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86968" y="2295144"/>
            <a:ext cx="2926079" cy="3410712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Retail Action IR 与 ActionBank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IR 编译器、运行状态、admissibility、repair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Paper 2：40 篇内部试验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Paper 1：已有方法文档与 Kyuubi 工作流设计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416552" y="1691640"/>
            <a:ext cx="333756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6552" y="1691640"/>
            <a:ext cx="73152" cy="4160520"/>
          </a:xfrm>
          <a:prstGeom prst="rect">
            <a:avLst/>
          </a:prstGeom>
          <a:solidFill>
            <a:srgbClr val="2A679E"/>
          </a:solidFill>
          <a:ln w="12700">
            <a:solidFill>
              <a:srgbClr val="2A67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72584" y="1856232"/>
            <a:ext cx="28986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当前证据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45152" y="2295144"/>
            <a:ext cx="2926079" cy="1618615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Paper 3：44.9% → 55.7%</a:t>
            </a:r>
            <a:r>
              <a:rPr lang="zh-CN" sz="1500" b="0">
                <a:solidFill>
                  <a:srgbClr val="5B6874"/>
                </a:solidFill>
                <a:latin typeface="PingFang SC" panose="020B0400000000000000" charset="-122"/>
              </a:rPr>
              <a:t>。有效果提升，但是相应处理时间增加。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Paper 2：Ours 并非全面最优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Paper 1：案例数字尚缺可复现 benchmark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174736" y="1691640"/>
            <a:ext cx="333756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74736" y="1691640"/>
            <a:ext cx="73152" cy="4160520"/>
          </a:xfrm>
          <a:prstGeom prst="rect">
            <a:avLst/>
          </a:prstGeom>
          <a:solidFill>
            <a:srgbClr val="D28B23"/>
          </a:solidFill>
          <a:ln w="12700">
            <a:solidFill>
              <a:srgbClr val="D28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7" y="1856232"/>
            <a:ext cx="28986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需要决策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403336" y="2295144"/>
            <a:ext cx="2926079" cy="1247140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Paper 1 是否值得独立投入？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</a:t>
            </a:r>
            <a:r>
              <a:rPr lang="zh-CN" sz="1500" b="0">
                <a:solidFill>
                  <a:srgbClr val="5B6874"/>
                </a:solidFill>
                <a:latin typeface="PingFang SC" panose="020B0400000000000000" charset="-122"/>
              </a:rPr>
              <a:t>人工打标数据集</a:t>
            </a: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选择哪个领域？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</a:t>
            </a:r>
            <a:r>
              <a:rPr lang="zh-CN" sz="1500" b="0">
                <a:solidFill>
                  <a:srgbClr val="5B6874"/>
                </a:solidFill>
                <a:latin typeface="PingFang SC" panose="020B0400000000000000" charset="-122"/>
              </a:rPr>
              <a:t>数据标注可有</a:t>
            </a:r>
            <a:r>
              <a:rPr lang="en-US" altLang="zh-CN" sz="1500" b="0">
                <a:solidFill>
                  <a:srgbClr val="5B6874"/>
                </a:solidFill>
                <a:latin typeface="PingFang SC" panose="020B0400000000000000" charset="-122"/>
              </a:rPr>
              <a:t>trick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Paper 3 达到何种门槛再扩域？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62A3F"/>
                </a:solidFill>
                <a:latin typeface="PingFang SC" panose="020B0400000000000000" charset="-122"/>
              </a:rPr>
              <a:t>总体研究假设</a:t>
            </a:r>
            <a:endParaRPr sz="2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107899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先写成可证伪假设；实验达标后才能在论文中改写为创新贡献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94360" y="1417320"/>
            <a:ext cx="10972800" cy="0"/>
          </a:xfrm>
          <a:prstGeom prst="line">
            <a:avLst/>
          </a:prstGeom>
          <a:ln w="12700">
            <a:solidFill>
              <a:srgbClr val="D3DA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21792" y="6510528"/>
            <a:ext cx="4572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800" b="0">
                <a:solidFill>
                  <a:srgbClr val="5B6874"/>
                </a:solidFill>
                <a:latin typeface="PingFang SC" panose="020B0400000000000000" charset="-122"/>
              </a:rPr>
              <a:t>Ontology Action Layer Research Plan</a:t>
            </a:r>
            <a:endParaRPr sz="8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1">
                <a:solidFill>
                  <a:srgbClr val="5B6874"/>
                </a:solidFill>
                <a:latin typeface="PingFang SC" panose="020B0400000000000000" charset="-122"/>
              </a:rPr>
              <a:t>08</a:t>
            </a:r>
            <a:endParaRPr sz="900" b="1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35204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73152" cy="4297680"/>
          </a:xfrm>
          <a:prstGeom prst="rect">
            <a:avLst/>
          </a:prstGeom>
          <a:solidFill>
            <a:srgbClr val="34845B"/>
          </a:solidFill>
          <a:ln w="12700">
            <a:solidFill>
              <a:srgbClr val="34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28800"/>
            <a:ext cx="308152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H1：协作式数据本体生成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50392" y="2267712"/>
            <a:ext cx="3108960" cy="3547872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metadata 全量发现 + 选择性采样验证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机器证据与人类共识分轨管理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降低关系验证的 SQL 和专家成本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当前状态：有方法文档，缺可复现实验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334256" y="1664208"/>
            <a:ext cx="35204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4256" y="1664208"/>
            <a:ext cx="73152" cy="4297680"/>
          </a:xfrm>
          <a:prstGeom prst="rect">
            <a:avLst/>
          </a:prstGeom>
          <a:solidFill>
            <a:srgbClr val="147E7D"/>
          </a:solidFill>
          <a:ln w="12700">
            <a:solidFill>
              <a:srgbClr val="147E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828800"/>
            <a:ext cx="308152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H2：动作抽取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62856" y="2267712"/>
            <a:ext cx="3108960" cy="3547872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Existing-ontology grounding + evidence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提高完整 Action IR 的可验证性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并产生可用的 ActionBank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当前状态：40 篇结果混合，需修复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46720" y="1664208"/>
            <a:ext cx="352044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664208"/>
            <a:ext cx="73152" cy="4297680"/>
          </a:xfrm>
          <a:prstGeom prst="rect">
            <a:avLst/>
          </a:prstGeom>
          <a:solidFill>
            <a:srgbClr val="D28B23"/>
          </a:solidFill>
          <a:ln w="12700">
            <a:solidFill>
              <a:srgbClr val="D28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828800"/>
            <a:ext cx="308152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H3：运行时语义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75320" y="2267712"/>
            <a:ext cx="3108960" cy="3547872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epistemic weak / mutating strong grounding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提高任务成功并减少错误 transfer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收益来自本体机制而非额外重试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当前状态：+10.9 pp，任务级未显著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62A3F"/>
                </a:solidFill>
                <a:latin typeface="PingFang SC" panose="020B0400000000000000" charset="-122"/>
              </a:rPr>
              <a:t>统一表示：Action IR</a:t>
            </a:r>
            <a:endParaRPr sz="2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107899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IR = Intermediate Representation，不是简单 JSON，也不是新的本体副本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94360" y="1417320"/>
            <a:ext cx="10972800" cy="0"/>
          </a:xfrm>
          <a:prstGeom prst="line">
            <a:avLst/>
          </a:prstGeom>
          <a:ln w="12700">
            <a:solidFill>
              <a:srgbClr val="D3DA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21792" y="6510528"/>
            <a:ext cx="4572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800" b="0">
                <a:solidFill>
                  <a:srgbClr val="5B6874"/>
                </a:solidFill>
                <a:latin typeface="PingFang SC" panose="020B0400000000000000" charset="-122"/>
              </a:rPr>
              <a:t>Ontology Action Layer Research Plan</a:t>
            </a:r>
            <a:endParaRPr sz="8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1">
                <a:solidFill>
                  <a:srgbClr val="5B6874"/>
                </a:solidFill>
                <a:latin typeface="PingFang SC" panose="020B0400000000000000" charset="-122"/>
              </a:rPr>
              <a:t>09</a:t>
            </a:r>
            <a:endParaRPr sz="900" b="1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8368" y="1828800"/>
            <a:ext cx="2971800" cy="2971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828800"/>
            <a:ext cx="73152" cy="2971800"/>
          </a:xfrm>
          <a:prstGeom prst="rect">
            <a:avLst/>
          </a:prstGeom>
          <a:solidFill>
            <a:srgbClr val="147E7D"/>
          </a:solidFill>
          <a:ln w="12700">
            <a:solidFill>
              <a:srgbClr val="147E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253288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上游：文档语言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86968" y="2432304"/>
            <a:ext cx="2560320" cy="2221992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5B6874"/>
                </a:solidFill>
                <a:latin typeface="PingFang SC" panose="020B0400000000000000" charset="-122"/>
              </a:rPr>
              <a:t>• 自然语言步骤</a:t>
            </a:r>
            <a:endParaRPr sz="16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5B6874"/>
                </a:solidFill>
                <a:latin typeface="PingFang SC" panose="020B0400000000000000" charset="-122"/>
              </a:rPr>
              <a:t>• 表格、标题、条件句</a:t>
            </a:r>
            <a:endParaRPr sz="16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5B6874"/>
                </a:solidFill>
                <a:latin typeface="PingFang SC" panose="020B0400000000000000" charset="-122"/>
              </a:rPr>
              <a:t>• 异常与安全说明</a:t>
            </a:r>
            <a:endParaRPr sz="16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703320" y="2889504"/>
            <a:ext cx="5486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800" b="1">
                <a:solidFill>
                  <a:srgbClr val="162A3F"/>
                </a:solidFill>
                <a:latin typeface="PingFang SC" panose="020B0400000000000000" charset="-122"/>
              </a:rPr>
              <a:t>→</a:t>
            </a:r>
            <a:endParaRPr sz="28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315968" y="1828800"/>
            <a:ext cx="3566160" cy="2971800"/>
          </a:xfrm>
          <a:prstGeom prst="roundRect">
            <a:avLst>
              <a:gd name="adj" fmla="val 8000"/>
            </a:avLst>
          </a:prstGeom>
          <a:solidFill>
            <a:srgbClr val="162A3F"/>
          </a:solidFill>
          <a:ln w="12700">
            <a:solidFill>
              <a:srgbClr val="162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2331720"/>
            <a:ext cx="3090672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PingFang SC" panose="020B0400000000000000" charset="-122"/>
              </a:rPr>
              <a:t>Canonical Action IR</a:t>
            </a:r>
            <a:endParaRPr sz="23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45152" y="3035808"/>
            <a:ext cx="2907792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PingFang SC" panose="020B0400000000000000" charset="-122"/>
              </a:rPr>
              <a:t>动作身份 + 对象绑定
参数角色 + 状态语义
约束 + 流程 + 证据</a:t>
            </a:r>
            <a:endParaRPr sz="1600" b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973568" y="2889504"/>
            <a:ext cx="5486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800" b="1">
                <a:solidFill>
                  <a:srgbClr val="162A3F"/>
                </a:solidFill>
                <a:latin typeface="PingFang SC" panose="020B0400000000000000" charset="-122"/>
              </a:rPr>
              <a:t>→</a:t>
            </a:r>
            <a:endParaRPr sz="28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577072" y="1828800"/>
            <a:ext cx="2971800" cy="2971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77072" y="1828800"/>
            <a:ext cx="73152" cy="2971800"/>
          </a:xfrm>
          <a:prstGeom prst="rect">
            <a:avLst/>
          </a:prstGeom>
          <a:solidFill>
            <a:srgbClr val="2A679E"/>
          </a:solidFill>
          <a:ln w="12700">
            <a:solidFill>
              <a:srgbClr val="2A67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33104" y="1993392"/>
            <a:ext cx="253288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下游：任务投影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805672" y="2432304"/>
            <a:ext cx="2560320" cy="2221992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5B6874"/>
                </a:solidFill>
                <a:latin typeface="PingFang SC" panose="020B0400000000000000" charset="-122"/>
              </a:rPr>
              <a:t>• Action IR Patch</a:t>
            </a:r>
            <a:endParaRPr sz="16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5B6874"/>
                </a:solidFill>
                <a:latin typeface="PingFang SC" panose="020B0400000000000000" charset="-122"/>
              </a:rPr>
              <a:t>• Runtime ActionBank</a:t>
            </a:r>
            <a:endParaRPr sz="16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5B6874"/>
                </a:solidFill>
                <a:latin typeface="PingFang SC" panose="020B0400000000000000" charset="-122"/>
              </a:rPr>
              <a:t>• Procedure Graph</a:t>
            </a:r>
            <a:endParaRPr sz="16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43000" y="5376672"/>
            <a:ext cx="99212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1">
                <a:solidFill>
                  <a:srgbClr val="147E7D"/>
                </a:solidFill>
                <a:latin typeface="PingFang SC" panose="020B0400000000000000" charset="-122"/>
              </a:rPr>
              <a:t>核心作用：保持文档证据、本体语义和运行时工具之间可追踪、可验证的映射。</a:t>
            </a:r>
            <a:endParaRPr sz="1600" b="1">
              <a:solidFill>
                <a:srgbClr val="147E7D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62A3F"/>
                </a:solidFill>
                <a:latin typeface="PingFang SC" panose="020B0400000000000000" charset="-122"/>
              </a:rPr>
              <a:t>从数据本体到 Action Layer</a:t>
            </a:r>
            <a:endParaRPr sz="2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107899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Paper 1 提供对象/关系基础；Paper 2、3 负责动作知识的获取与运行使用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94360" y="1417320"/>
            <a:ext cx="10972800" cy="0"/>
          </a:xfrm>
          <a:prstGeom prst="line">
            <a:avLst/>
          </a:prstGeom>
          <a:ln w="12700">
            <a:solidFill>
              <a:srgbClr val="D3DA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21792" y="6510528"/>
            <a:ext cx="4572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800" b="0">
                <a:solidFill>
                  <a:srgbClr val="5B6874"/>
                </a:solidFill>
                <a:latin typeface="PingFang SC" panose="020B0400000000000000" charset="-122"/>
              </a:rPr>
              <a:t>Ontology Action Layer Research Plan</a:t>
            </a:r>
            <a:endParaRPr sz="8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1">
                <a:solidFill>
                  <a:srgbClr val="5B6874"/>
                </a:solidFill>
                <a:latin typeface="PingFang SC" panose="020B0400000000000000" charset="-122"/>
              </a:rPr>
              <a:t>10</a:t>
            </a:r>
            <a:endParaRPr sz="900" b="1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1965960"/>
            <a:ext cx="2029968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7E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9224" y="2093976"/>
            <a:ext cx="502920" cy="310896"/>
          </a:xfrm>
          <a:prstGeom prst="roundRect">
            <a:avLst>
              <a:gd name="adj" fmla="val 8000"/>
            </a:avLst>
          </a:prstGeom>
          <a:solidFill>
            <a:srgbClr val="147E7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2103120"/>
            <a:ext cx="50292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1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216152" y="2093976"/>
            <a:ext cx="11887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62A3F"/>
                </a:solidFill>
                <a:latin typeface="PingFang SC" panose="020B0400000000000000" charset="-122"/>
              </a:rPr>
              <a:t>Live Schema</a:t>
            </a:r>
            <a:endParaRPr sz="15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67512" y="2587752"/>
            <a:ext cx="1700784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Paper 1：对象/字段/候选关系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2551176" y="2633472"/>
            <a:ext cx="237744" cy="0"/>
          </a:xfrm>
          <a:prstGeom prst="line">
            <a:avLst/>
          </a:prstGeom>
          <a:ln w="27940">
            <a:solidFill>
              <a:srgbClr val="147E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843784" y="1965960"/>
            <a:ext cx="2029968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67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90088" y="2093976"/>
            <a:ext cx="502920" cy="310896"/>
          </a:xfrm>
          <a:prstGeom prst="roundRect">
            <a:avLst>
              <a:gd name="adj" fmla="val 8000"/>
            </a:avLst>
          </a:prstGeom>
          <a:solidFill>
            <a:srgbClr val="2A679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90088" y="2103120"/>
            <a:ext cx="50292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2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557016" y="2093976"/>
            <a:ext cx="11887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62A3F"/>
                </a:solidFill>
                <a:latin typeface="PingFang SC" panose="020B0400000000000000" charset="-122"/>
              </a:rPr>
              <a:t>数据本体</a:t>
            </a:r>
            <a:endParaRPr sz="15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008376" y="2587752"/>
            <a:ext cx="1700784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采样验证 + 共识 + 演化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4892040" y="2633472"/>
            <a:ext cx="237744" cy="0"/>
          </a:xfrm>
          <a:prstGeom prst="line">
            <a:avLst/>
          </a:prstGeom>
          <a:ln w="27940">
            <a:solidFill>
              <a:srgbClr val="2A67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84648" y="1965960"/>
            <a:ext cx="2029968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28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30952" y="2093976"/>
            <a:ext cx="502920" cy="310896"/>
          </a:xfrm>
          <a:prstGeom prst="roundRect">
            <a:avLst>
              <a:gd name="adj" fmla="val 8000"/>
            </a:avLst>
          </a:prstGeom>
          <a:solidFill>
            <a:srgbClr val="D28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952" y="2103120"/>
            <a:ext cx="50292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3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897880" y="2093976"/>
            <a:ext cx="11887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62A3F"/>
                </a:solidFill>
                <a:latin typeface="PingFang SC" panose="020B0400000000000000" charset="-122"/>
              </a:rPr>
              <a:t>动作抽取</a:t>
            </a:r>
            <a:endParaRPr sz="15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349240" y="2587752"/>
            <a:ext cx="1700784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Paper 2：Document → Action IR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25" name="Connector 24"/>
          <p:cNvCxnSpPr/>
          <p:nvPr/>
        </p:nvCxnSpPr>
        <p:spPr>
          <a:xfrm>
            <a:off x="7232904" y="2633472"/>
            <a:ext cx="237744" cy="0"/>
          </a:xfrm>
          <a:prstGeom prst="line">
            <a:avLst/>
          </a:prstGeom>
          <a:ln w="27940">
            <a:solidFill>
              <a:srgbClr val="D28B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525512" y="1965960"/>
            <a:ext cx="2029968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671816" y="2093976"/>
            <a:ext cx="502920" cy="310896"/>
          </a:xfrm>
          <a:prstGeom prst="roundRect">
            <a:avLst>
              <a:gd name="adj" fmla="val 8000"/>
            </a:avLst>
          </a:prstGeom>
          <a:solidFill>
            <a:srgbClr val="34845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71816" y="2103120"/>
            <a:ext cx="50292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4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238744" y="2093976"/>
            <a:ext cx="11887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62A3F"/>
                </a:solidFill>
                <a:latin typeface="PingFang SC" panose="020B0400000000000000" charset="-122"/>
              </a:rPr>
              <a:t>运行投影</a:t>
            </a:r>
            <a:endParaRPr sz="15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690104" y="2587752"/>
            <a:ext cx="1700784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Paper 3：IR → ActionBank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31" name="Connector 30"/>
          <p:cNvCxnSpPr/>
          <p:nvPr/>
        </p:nvCxnSpPr>
        <p:spPr>
          <a:xfrm>
            <a:off x="9573768" y="2633472"/>
            <a:ext cx="237744" cy="0"/>
          </a:xfrm>
          <a:prstGeom prst="line">
            <a:avLst/>
          </a:prstGeom>
          <a:ln w="27940">
            <a:solidFill>
              <a:srgbClr val="3484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866376" y="1965960"/>
            <a:ext cx="2029968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43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12680" y="2093976"/>
            <a:ext cx="502920" cy="310896"/>
          </a:xfrm>
          <a:prstGeom prst="roundRect">
            <a:avLst>
              <a:gd name="adj" fmla="val 8000"/>
            </a:avLst>
          </a:prstGeom>
          <a:solidFill>
            <a:srgbClr val="B4433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12680" y="2103120"/>
            <a:ext cx="50292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5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0579608" y="2093976"/>
            <a:ext cx="11887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62A3F"/>
                </a:solidFill>
                <a:latin typeface="PingFang SC" panose="020B0400000000000000" charset="-122"/>
              </a:rPr>
              <a:t>执行反馈</a:t>
            </a:r>
            <a:endParaRPr sz="15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0030968" y="2587752"/>
            <a:ext cx="1700784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violation / drift → revalidation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914400" y="4160520"/>
            <a:ext cx="48920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4400" y="4160520"/>
            <a:ext cx="73152" cy="1325880"/>
          </a:xfrm>
          <a:prstGeom prst="rect">
            <a:avLst/>
          </a:prstGeom>
          <a:solidFill>
            <a:srgbClr val="147E7D"/>
          </a:solidFill>
          <a:ln w="12700">
            <a:solidFill>
              <a:srgbClr val="147E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70432" y="4325112"/>
            <a:ext cx="4453127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当前已落地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143000" y="4764024"/>
            <a:ext cx="4480559" cy="576072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5B6874"/>
                </a:solidFill>
                <a:latin typeface="PingFang SC" panose="020B0400000000000000" charset="-122"/>
              </a:rPr>
              <a:t>• Paper 3 的 retail_action_ir.json → compiler → Agent</a:t>
            </a:r>
            <a:endParaRPr sz="14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6382512" y="4160520"/>
            <a:ext cx="489204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82512" y="4160520"/>
            <a:ext cx="73152" cy="1325880"/>
          </a:xfrm>
          <a:prstGeom prst="rect">
            <a:avLst/>
          </a:prstGeom>
          <a:solidFill>
            <a:srgbClr val="2A679E"/>
          </a:solidFill>
          <a:ln w="12700">
            <a:solidFill>
              <a:srgbClr val="2A67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38544" y="4325112"/>
            <a:ext cx="4453127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尚缺的闭环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611112" y="4764024"/>
            <a:ext cx="4480559" cy="576072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5B6874"/>
                </a:solidFill>
                <a:latin typeface="PingFang SC" panose="020B0400000000000000" charset="-122"/>
              </a:rPr>
              <a:t>• Paper 1 工程化、Paper 2 金标，以及基础本体与 Action IR 的真实连接</a:t>
            </a:r>
            <a:endParaRPr sz="14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62A3F"/>
                </a:solidFill>
                <a:latin typeface="PingFang SC" panose="020B0400000000000000" charset="-122"/>
              </a:rPr>
              <a:t>数据集分工</a:t>
            </a:r>
            <a:endParaRPr sz="2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10789920" cy="29146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lang="zh-CN" sz="1300" b="0">
                <a:solidFill>
                  <a:srgbClr val="5B6874"/>
                </a:solidFill>
                <a:latin typeface="PingFang SC" panose="020B0400000000000000" charset="-122"/>
              </a:rPr>
              <a:t>数据集只能支撑本体属性提取</a:t>
            </a:r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；缺失标注不能被包装成完整 Action IR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94360" y="1417320"/>
            <a:ext cx="10972800" cy="0"/>
          </a:xfrm>
          <a:prstGeom prst="line">
            <a:avLst/>
          </a:prstGeom>
          <a:ln w="12700">
            <a:solidFill>
              <a:srgbClr val="D3DA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21792" y="6510528"/>
            <a:ext cx="4572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800" b="0">
                <a:solidFill>
                  <a:srgbClr val="5B6874"/>
                </a:solidFill>
                <a:latin typeface="PingFang SC" panose="020B0400000000000000" charset="-122"/>
              </a:rPr>
              <a:t>Ontology Action Layer Research Plan</a:t>
            </a:r>
            <a:endParaRPr sz="8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1">
                <a:solidFill>
                  <a:srgbClr val="5B6874"/>
                </a:solidFill>
                <a:latin typeface="PingFang SC" panose="020B0400000000000000" charset="-122"/>
              </a:rPr>
              <a:t>11</a:t>
            </a:r>
            <a:endParaRPr sz="900" b="1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84048" y="1645920"/>
          <a:ext cx="11411712" cy="4407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46120"/>
                <a:gridCol w="3200400"/>
                <a:gridCol w="3136392"/>
              </a:tblGrid>
              <a:tr h="73456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ingFang SC" panose="020B0400000000000000" charset="-122"/>
                        </a:rPr>
                        <a:t>论文</a:t>
                      </a:r>
                      <a:endParaRPr sz="1100" b="1">
                        <a:solidFill>
                          <a:srgbClr val="FFFFFF"/>
                        </a:solidFill>
                        <a:latin typeface="PingFang SC" panose="020B0400000000000000" charset="-122"/>
                      </a:endParaRPr>
                    </a:p>
                  </a:txBody>
                  <a:tcPr anchor="ctr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ingFang SC" panose="020B0400000000000000" charset="-122"/>
                        </a:rPr>
                        <a:t>数据来源</a:t>
                      </a:r>
                      <a:endParaRPr sz="1100" b="1">
                        <a:solidFill>
                          <a:srgbClr val="FFFFFF"/>
                        </a:solidFill>
                        <a:latin typeface="PingFang SC" panose="020B0400000000000000" charset="-122"/>
                      </a:endParaRPr>
                    </a:p>
                  </a:txBody>
                  <a:tcPr anchor="ctr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ingFang SC" panose="020B0400000000000000" charset="-122"/>
                        </a:rPr>
                        <a:t>提供的证据</a:t>
                      </a:r>
                      <a:endParaRPr sz="1100" b="1">
                        <a:solidFill>
                          <a:srgbClr val="FFFFFF"/>
                        </a:solidFill>
                        <a:latin typeface="PingFang SC" panose="020B0400000000000000" charset="-122"/>
                      </a:endParaRPr>
                    </a:p>
                  </a:txBody>
                  <a:tcPr anchor="ctr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PingFang SC" panose="020B0400000000000000" charset="-122"/>
                        </a:rPr>
                        <a:t>使用边界</a:t>
                      </a:r>
                      <a:endParaRPr sz="1100" b="1">
                        <a:solidFill>
                          <a:srgbClr val="FFFFFF"/>
                        </a:solidFill>
                        <a:latin typeface="PingFang SC" panose="020B0400000000000000" charset="-122"/>
                      </a:endParaRPr>
                    </a:p>
                  </a:txBody>
                  <a:tcPr anchor="ctr">
                    <a:solidFill>
                      <a:srgbClr val="162A3F"/>
                    </a:solidFill>
                  </a:tcPr>
                </a:tc>
              </a:tr>
              <a:tr h="7345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Paper 1 数据本体</a:t>
                      </a:r>
                      <a:endParaRPr sz="1100" b="1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Live Schema + sampled data + users</a:t>
                      </a:r>
                      <a:endParaRPr sz="11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候选关系、证据、共识、Schema 演化</a:t>
                      </a:r>
                      <a:endParaRPr sz="11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已有方法文档；需可复现 benchmark</a:t>
                      </a:r>
                      <a:endParaRPr sz="11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</a:tr>
              <a:tr h="7345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Paper 2 文档抽取</a:t>
                      </a:r>
                      <a:endParaRPr sz="1100" b="1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EBF3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MyFixit + MSPT</a:t>
                      </a:r>
                      <a:endParaRPr sz="11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EBF3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action / target / tool / parameter</a:t>
                      </a:r>
                      <a:endParaRPr sz="11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EBF3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主训练与字段级测试</a:t>
                      </a:r>
                      <a:endParaRPr sz="11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EBF3F9"/>
                    </a:solidFill>
                  </a:tcPr>
                </a:tc>
              </a:tr>
              <a:tr h="7345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Paper 2 结构能力</a:t>
                      </a:r>
                      <a:endParaRPr sz="1100" b="1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PET + ProPara + BioProcess + OMIn</a:t>
                      </a:r>
                      <a:endParaRPr sz="11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flow / state change / argument / grounding</a:t>
                      </a:r>
                      <a:endParaRPr sz="11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辅助测试，不合并成完整金标</a:t>
                      </a:r>
                      <a:endParaRPr sz="11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</a:tr>
              <a:tr h="7345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Paper 2 弱监督</a:t>
                      </a:r>
                      <a:endParaRPr sz="1100" b="1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EBF3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Text-mined Synthesis</a:t>
                      </a:r>
                      <a:endParaRPr sz="11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EBF3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operations / conditions / recipes</a:t>
                      </a:r>
                      <a:endParaRPr sz="11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EBF3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预训练，不能报告 gold score</a:t>
                      </a:r>
                      <a:endParaRPr sz="11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EBF3F9"/>
                    </a:solidFill>
                  </a:tcPr>
                </a:tc>
              </a:tr>
              <a:tr h="73456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Paper 3 Agent</a:t>
                      </a:r>
                      <a:endParaRPr sz="1100" b="1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tau2 Retail；计划 Airline/ABCD</a:t>
                      </a:r>
                      <a:endParaRPr sz="11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policy、tools、dialogue、execution</a:t>
                      </a:r>
                      <a:endParaRPr sz="11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目前只有 Retail 初步结果</a:t>
                      </a:r>
                      <a:endParaRPr sz="11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62A3F"/>
                </a:solidFill>
                <a:latin typeface="PingFang SC" panose="020B0400000000000000" charset="-122"/>
              </a:rPr>
              <a:t>共享数据资产</a:t>
            </a:r>
            <a:endParaRPr sz="2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107899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Paper 1 提供对象/关系基础层；Paper 2、3 共享 Action IR 与运行资产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94360" y="1417320"/>
            <a:ext cx="10972800" cy="0"/>
          </a:xfrm>
          <a:prstGeom prst="line">
            <a:avLst/>
          </a:prstGeom>
          <a:ln w="12700">
            <a:solidFill>
              <a:srgbClr val="D3DA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21792" y="6510528"/>
            <a:ext cx="4572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800" b="0">
                <a:solidFill>
                  <a:srgbClr val="5B6874"/>
                </a:solidFill>
                <a:latin typeface="PingFang SC" panose="020B0400000000000000" charset="-122"/>
              </a:rPr>
              <a:t>Ontology Action Layer Research Plan</a:t>
            </a:r>
            <a:endParaRPr sz="8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1">
                <a:solidFill>
                  <a:srgbClr val="5B6874"/>
                </a:solidFill>
                <a:latin typeface="PingFang SC" panose="020B0400000000000000" charset="-122"/>
              </a:rPr>
              <a:t>12</a:t>
            </a:r>
            <a:endParaRPr sz="900" b="1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8368" y="1755648"/>
            <a:ext cx="333756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755648"/>
            <a:ext cx="73152" cy="3886200"/>
          </a:xfrm>
          <a:prstGeom prst="rect">
            <a:avLst/>
          </a:prstGeom>
          <a:solidFill>
            <a:srgbClr val="34845B"/>
          </a:solidFill>
          <a:ln w="12700">
            <a:solidFill>
              <a:srgbClr val="34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20240"/>
            <a:ext cx="28986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Paper 1：需工程化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86968" y="2359152"/>
            <a:ext cx="2926079" cy="3136392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Live Schema 与候选关系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采样 JOIN 证据和统计画像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contributors / consensus / disputes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Schema drift 与重验证记录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416552" y="1755648"/>
            <a:ext cx="333756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6552" y="1755648"/>
            <a:ext cx="73152" cy="3886200"/>
          </a:xfrm>
          <a:prstGeom prst="rect">
            <a:avLst/>
          </a:prstGeom>
          <a:solidFill>
            <a:srgbClr val="147E7D"/>
          </a:solidFill>
          <a:ln w="12700">
            <a:solidFill>
              <a:srgbClr val="147E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72584" y="1920240"/>
            <a:ext cx="28986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Paper 2：部分具备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45152" y="2359152"/>
            <a:ext cx="2926079" cy="3136392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5B6874"/>
                </a:solidFill>
                <a:latin typeface="PingFang SC" panose="020B0400000000000000" charset="-122"/>
              </a:rPr>
              <a:t>• 已有 40 篇内部试验</a:t>
            </a:r>
            <a:endParaRPr sz="16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5B6874"/>
                </a:solidFill>
                <a:latin typeface="PingFang SC" panose="020B0400000000000000" charset="-122"/>
              </a:rPr>
              <a:t>• 公开数据仅覆盖部分字段</a:t>
            </a:r>
            <a:endParaRPr sz="16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5B6874"/>
                </a:solidFill>
                <a:latin typeface="PingFang SC" panose="020B0400000000000000" charset="-122"/>
              </a:rPr>
              <a:t>• evidence / flow 当前为 0</a:t>
            </a:r>
            <a:endParaRPr sz="16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5B6874"/>
                </a:solidFill>
                <a:latin typeface="PingFang SC" panose="020B0400000000000000" charset="-122"/>
              </a:rPr>
              <a:t>• 尚缺 Full Action IR 金标</a:t>
            </a:r>
            <a:endParaRPr sz="16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174736" y="1755648"/>
            <a:ext cx="3337560" cy="388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74736" y="1755648"/>
            <a:ext cx="73152" cy="3886200"/>
          </a:xfrm>
          <a:prstGeom prst="rect">
            <a:avLst/>
          </a:prstGeom>
          <a:solidFill>
            <a:srgbClr val="D28B23"/>
          </a:solidFill>
          <a:ln w="12700">
            <a:solidFill>
              <a:srgbClr val="D28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7" y="1920240"/>
            <a:ext cx="28986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Paper 3：已有原型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403336" y="2359152"/>
            <a:ext cx="2926079" cy="3136392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5B6874"/>
                </a:solidFill>
                <a:latin typeface="PingFang SC" panose="020B0400000000000000" charset="-122"/>
              </a:rPr>
              <a:t>• Retail Action IR / ActionBank</a:t>
            </a:r>
            <a:endParaRPr sz="16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5B6874"/>
                </a:solidFill>
                <a:latin typeface="PingFang SC" panose="020B0400000000000000" charset="-122"/>
              </a:rPr>
              <a:t>• 341 个严格配对样本</a:t>
            </a:r>
            <a:endParaRPr sz="16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5B6874"/>
                </a:solidFill>
                <a:latin typeface="PingFang SC" panose="020B0400000000000000" charset="-122"/>
              </a:rPr>
              <a:t>• 114 个任务、3 个 trials</a:t>
            </a:r>
            <a:endParaRPr sz="16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5B6874"/>
                </a:solidFill>
                <a:latin typeface="PingFang SC" panose="020B0400000000000000" charset="-122"/>
              </a:rPr>
              <a:t>• 修复版全量重跑尚未完成</a:t>
            </a:r>
            <a:endParaRPr sz="16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20" name="Connector 19"/>
          <p:cNvCxnSpPr/>
          <p:nvPr/>
        </p:nvCxnSpPr>
        <p:spPr>
          <a:xfrm>
            <a:off x="3995928" y="3657600"/>
            <a:ext cx="374904" cy="0"/>
          </a:xfrm>
          <a:prstGeom prst="line">
            <a:avLst/>
          </a:prstGeom>
          <a:ln w="25400">
            <a:solidFill>
              <a:srgbClr val="3484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754112" y="3657600"/>
            <a:ext cx="374904" cy="0"/>
          </a:xfrm>
          <a:prstGeom prst="line">
            <a:avLst/>
          </a:prstGeom>
          <a:ln w="25400">
            <a:solidFill>
              <a:srgbClr val="147E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8600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47E7D"/>
                </a:solidFill>
                <a:latin typeface="PingFang SC" panose="020B0400000000000000" charset="-122"/>
              </a:rPr>
              <a:t>PAPER 1</a:t>
            </a:r>
            <a:endParaRPr sz="1000" b="1">
              <a:solidFill>
                <a:srgbClr val="147E7D"/>
              </a:solidFill>
              <a:latin typeface="PingFang SC" panose="020B0400000000000000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62A3F"/>
                </a:solidFill>
                <a:latin typeface="PingFang SC" panose="020B0400000000000000" charset="-122"/>
              </a:rPr>
              <a:t>Paper 1：协作式数据本体生成</a:t>
            </a:r>
            <a:endParaRPr sz="2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107899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以 collaborative-data-ontogenesis.docx 为主体：从 Live Database Schema 生长和演化数据本体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94360" y="1417320"/>
            <a:ext cx="10972800" cy="0"/>
          </a:xfrm>
          <a:prstGeom prst="line">
            <a:avLst/>
          </a:prstGeom>
          <a:ln w="12700">
            <a:solidFill>
              <a:srgbClr val="D3DA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21792" y="6510528"/>
            <a:ext cx="4572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800" b="0">
                <a:solidFill>
                  <a:srgbClr val="5B6874"/>
                </a:solidFill>
                <a:latin typeface="PingFang SC" panose="020B0400000000000000" charset="-122"/>
              </a:rPr>
              <a:t>Ontology Action Layer Research Plan</a:t>
            </a:r>
            <a:endParaRPr sz="8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1">
                <a:solidFill>
                  <a:srgbClr val="5B6874"/>
                </a:solidFill>
                <a:latin typeface="PingFang SC" panose="020B0400000000000000" charset="-122"/>
              </a:rPr>
              <a:t>13</a:t>
            </a:r>
            <a:endParaRPr sz="900" b="1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8368" y="1737360"/>
            <a:ext cx="3337560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737360"/>
            <a:ext cx="73152" cy="3794760"/>
          </a:xfrm>
          <a:prstGeom prst="rect">
            <a:avLst/>
          </a:prstGeom>
          <a:solidFill>
            <a:srgbClr val="B4433E"/>
          </a:solidFill>
          <a:ln w="12700">
            <a:solidFill>
              <a:srgbClr val="B443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01952"/>
            <a:ext cx="28986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研究问题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86968" y="2340864"/>
            <a:ext cx="2926079" cy="3044952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全自动发现覆盖高但业务语义不可靠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全人工建模准确但冷启动与维护成本高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对所有候选执行全表 JOIN 验证代价高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Schema 变化使已有关系快速过时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416552" y="1737360"/>
            <a:ext cx="3337560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6552" y="1737360"/>
            <a:ext cx="73152" cy="3794760"/>
          </a:xfrm>
          <a:prstGeom prst="rect">
            <a:avLst/>
          </a:prstGeom>
          <a:solidFill>
            <a:srgbClr val="147E7D"/>
          </a:solidFill>
          <a:ln w="12700">
            <a:solidFill>
              <a:srgbClr val="147E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72584" y="1901952"/>
            <a:ext cx="28986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文档已有方法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45152" y="2340864"/>
            <a:ext cx="2926079" cy="3044952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5B6874"/>
                </a:solidFill>
                <a:latin typeface="PingFang SC" panose="020B0400000000000000" charset="-122"/>
              </a:rPr>
              <a:t>• Phase A：零 JOIN 的 Schema 发现与候选推测</a:t>
            </a:r>
            <a:endParaRPr sz="14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5B6874"/>
                </a:solidFill>
                <a:latin typeface="PingFang SC" panose="020B0400000000000000" charset="-122"/>
              </a:rPr>
              <a:t>• Phase B：采样 JOIN、统计画像与人工确认</a:t>
            </a:r>
            <a:endParaRPr sz="14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5B6874"/>
                </a:solidFill>
                <a:latin typeface="PingFang SC" panose="020B0400000000000000" charset="-122"/>
              </a:rPr>
              <a:t>• candidate → inferred → confirmed → approved</a:t>
            </a:r>
            <a:endParaRPr sz="14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5B6874"/>
                </a:solidFill>
                <a:latin typeface="PingFang SC" panose="020B0400000000000000" charset="-122"/>
              </a:rPr>
              <a:t>• 冲突进入 disputed / pending_review</a:t>
            </a:r>
            <a:endParaRPr sz="14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5B6874"/>
                </a:solidFill>
                <a:latin typeface="PingFang SC" panose="020B0400000000000000" charset="-122"/>
              </a:rPr>
              <a:t>• Schema drift 触发软废弃和重验证</a:t>
            </a:r>
            <a:endParaRPr sz="14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174736" y="1737360"/>
            <a:ext cx="3337560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74736" y="1737360"/>
            <a:ext cx="73152" cy="3794760"/>
          </a:xfrm>
          <a:prstGeom prst="rect">
            <a:avLst/>
          </a:prstGeom>
          <a:solidFill>
            <a:srgbClr val="34845B"/>
          </a:solidFill>
          <a:ln w="12700">
            <a:solidFill>
              <a:srgbClr val="34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7" y="1901952"/>
            <a:ext cx="28986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与大论文的关系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403336" y="2340864"/>
            <a:ext cx="2926079" cy="3044952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输出对象、字段和关系的本体基础层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为 Paper 2 提供 existing ontology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协作、证据和版本机制可扩展到动作定义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Paper 1 本身不改写成 Action IR 论文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62A3F"/>
                </a:solidFill>
                <a:latin typeface="PingFang SC" panose="020B0400000000000000" charset="-122"/>
              </a:rPr>
              <a:t>Paper 1：方法</a:t>
            </a:r>
            <a:endParaRPr sz="2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107899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核心不是多 Agent，而是按成本分层获取证据，让候选关系经过验证、共识和演化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94360" y="1417320"/>
            <a:ext cx="10972800" cy="0"/>
          </a:xfrm>
          <a:prstGeom prst="line">
            <a:avLst/>
          </a:prstGeom>
          <a:ln w="12700">
            <a:solidFill>
              <a:srgbClr val="D3DA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21792" y="6510528"/>
            <a:ext cx="4572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800" b="0">
                <a:solidFill>
                  <a:srgbClr val="5B6874"/>
                </a:solidFill>
                <a:latin typeface="PingFang SC" panose="020B0400000000000000" charset="-122"/>
              </a:rPr>
              <a:t>Ontology Action Layer Research Plan</a:t>
            </a:r>
            <a:endParaRPr sz="8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1">
                <a:solidFill>
                  <a:srgbClr val="5B6874"/>
                </a:solidFill>
                <a:latin typeface="PingFang SC" panose="020B0400000000000000" charset="-122"/>
              </a:rPr>
              <a:t>14</a:t>
            </a:r>
            <a:endParaRPr sz="900" b="1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411480" y="1691640"/>
            <a:ext cx="166420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67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1865376"/>
            <a:ext cx="1152144" cy="310896"/>
          </a:xfrm>
          <a:prstGeom prst="roundRect">
            <a:avLst>
              <a:gd name="adj" fmla="val 8000"/>
            </a:avLst>
          </a:prstGeom>
          <a:solidFill>
            <a:srgbClr val="2A679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874519"/>
            <a:ext cx="115214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Discover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21208" y="2450592"/>
            <a:ext cx="144475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SHOW / DESCRIBE
+ sample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2093976" y="2414016"/>
            <a:ext cx="219456" cy="0"/>
          </a:xfrm>
          <a:prstGeom prst="line">
            <a:avLst/>
          </a:prstGeom>
          <a:ln w="25400">
            <a:solidFill>
              <a:srgbClr val="2A67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359152" y="1691640"/>
            <a:ext cx="166420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7E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615184" y="1865376"/>
            <a:ext cx="1152144" cy="310896"/>
          </a:xfrm>
          <a:prstGeom prst="roundRect">
            <a:avLst>
              <a:gd name="adj" fmla="val 8000"/>
            </a:avLst>
          </a:prstGeom>
          <a:solidFill>
            <a:srgbClr val="147E7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15184" y="1874519"/>
            <a:ext cx="115214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Propose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468880" y="2450592"/>
            <a:ext cx="144475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列名/类型/LLM
候选关系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4041648" y="2414016"/>
            <a:ext cx="219456" cy="0"/>
          </a:xfrm>
          <a:prstGeom prst="line">
            <a:avLst/>
          </a:prstGeom>
          <a:ln w="25400">
            <a:solidFill>
              <a:srgbClr val="147E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306824" y="1691640"/>
            <a:ext cx="166420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28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62856" y="1865376"/>
            <a:ext cx="1152144" cy="310896"/>
          </a:xfrm>
          <a:prstGeom prst="roundRect">
            <a:avLst>
              <a:gd name="adj" fmla="val 8000"/>
            </a:avLst>
          </a:prstGeom>
          <a:solidFill>
            <a:srgbClr val="D28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2856" y="1874519"/>
            <a:ext cx="115214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Validate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416552" y="2450592"/>
            <a:ext cx="144475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TABLESAMPLE JOIN
+ statistics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22" name="Connector 21"/>
          <p:cNvCxnSpPr/>
          <p:nvPr/>
        </p:nvCxnSpPr>
        <p:spPr>
          <a:xfrm>
            <a:off x="5989320" y="2414016"/>
            <a:ext cx="219456" cy="0"/>
          </a:xfrm>
          <a:prstGeom prst="line">
            <a:avLst/>
          </a:prstGeom>
          <a:ln w="25400">
            <a:solidFill>
              <a:srgbClr val="D28B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254496" y="1691640"/>
            <a:ext cx="166420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10528" y="1865376"/>
            <a:ext cx="1152144" cy="310896"/>
          </a:xfrm>
          <a:prstGeom prst="roundRect">
            <a:avLst>
              <a:gd name="adj" fmla="val 8000"/>
            </a:avLst>
          </a:prstGeom>
          <a:solidFill>
            <a:srgbClr val="34845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0528" y="1874519"/>
            <a:ext cx="115214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Confirm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364224" y="2450592"/>
            <a:ext cx="144475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确认、反驳
或补充语义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27" name="Connector 26"/>
          <p:cNvCxnSpPr/>
          <p:nvPr/>
        </p:nvCxnSpPr>
        <p:spPr>
          <a:xfrm>
            <a:off x="7936992" y="2414016"/>
            <a:ext cx="219456" cy="0"/>
          </a:xfrm>
          <a:prstGeom prst="line">
            <a:avLst/>
          </a:prstGeom>
          <a:ln w="25400">
            <a:solidFill>
              <a:srgbClr val="3484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202167" y="1691640"/>
            <a:ext cx="166420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43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458199" y="1865376"/>
            <a:ext cx="1152144" cy="310896"/>
          </a:xfrm>
          <a:prstGeom prst="roundRect">
            <a:avLst>
              <a:gd name="adj" fmla="val 8000"/>
            </a:avLst>
          </a:prstGeom>
          <a:solidFill>
            <a:srgbClr val="B4433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58199" y="1874519"/>
            <a:ext cx="115214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Govern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311895" y="2450592"/>
            <a:ext cx="144475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共识、Owner 审核
与冲突裁决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32" name="Connector 31"/>
          <p:cNvCxnSpPr/>
          <p:nvPr/>
        </p:nvCxnSpPr>
        <p:spPr>
          <a:xfrm>
            <a:off x="9884663" y="2414016"/>
            <a:ext cx="219456" cy="0"/>
          </a:xfrm>
          <a:prstGeom prst="line">
            <a:avLst/>
          </a:prstGeom>
          <a:ln w="25400">
            <a:solidFill>
              <a:srgbClr val="B44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10149839" y="1691640"/>
            <a:ext cx="166420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62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405871" y="1865376"/>
            <a:ext cx="1152144" cy="310896"/>
          </a:xfrm>
          <a:prstGeom prst="roundRect">
            <a:avLst>
              <a:gd name="adj" fmla="val 8000"/>
            </a:avLst>
          </a:prstGeom>
          <a:solidFill>
            <a:srgbClr val="162A3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05871" y="1874519"/>
            <a:ext cx="115214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Evolve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0259567" y="2450592"/>
            <a:ext cx="144475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drift 检测
soft-deprecate / reopen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2880360" y="3675887"/>
            <a:ext cx="6446520" cy="1024128"/>
          </a:xfrm>
          <a:prstGeom prst="roundRect">
            <a:avLst>
              <a:gd name="adj" fmla="val 8000"/>
            </a:avLst>
          </a:prstGeom>
          <a:solidFill>
            <a:srgbClr val="162A3F"/>
          </a:solidFill>
          <a:ln w="12700">
            <a:solidFill>
              <a:srgbClr val="162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063240" y="3822191"/>
            <a:ext cx="60807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ingFang SC" panose="020B0400000000000000" charset="-122"/>
              </a:rPr>
              <a:t>Candidate Edge = Implicit Ontology Relation Proposal</a:t>
            </a:r>
            <a:endParaRPr sz="18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063240" y="4187952"/>
            <a:ext cx="60807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PingFang SC" panose="020B0400000000000000" charset="-122"/>
              </a:rPr>
              <a:t>semantic edge | sampled evidence | contributors | consensus | status | schema version</a:t>
            </a:r>
            <a:endParaRPr sz="1200" b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777240" y="5074920"/>
            <a:ext cx="324612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5074920"/>
            <a:ext cx="73152" cy="868680"/>
          </a:xfrm>
          <a:prstGeom prst="rect">
            <a:avLst/>
          </a:prstGeom>
          <a:solidFill>
            <a:srgbClr val="D28B23"/>
          </a:solidFill>
          <a:ln w="12700">
            <a:solidFill>
              <a:srgbClr val="D28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33271" y="5239512"/>
            <a:ext cx="280720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人工输入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005840" y="5678424"/>
            <a:ext cx="2834639" cy="118872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• 只处理候选确认、业务补充和争议裁决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462272" y="5074920"/>
            <a:ext cx="324612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462272" y="5074920"/>
            <a:ext cx="73152" cy="868680"/>
          </a:xfrm>
          <a:prstGeom prst="rect">
            <a:avLst/>
          </a:prstGeom>
          <a:solidFill>
            <a:srgbClr val="34845B"/>
          </a:solidFill>
          <a:ln w="12700">
            <a:solidFill>
              <a:srgbClr val="34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18304" y="5239512"/>
            <a:ext cx="280720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主要指标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4690872" y="5678424"/>
            <a:ext cx="2834639" cy="118872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• relation quality + coverage + SQL / human cost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8147304" y="5074920"/>
            <a:ext cx="324612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47304" y="5074920"/>
            <a:ext cx="73152" cy="868680"/>
          </a:xfrm>
          <a:prstGeom prst="rect">
            <a:avLst/>
          </a:prstGeom>
          <a:solidFill>
            <a:srgbClr val="B4433E"/>
          </a:solidFill>
          <a:ln w="12700">
            <a:solidFill>
              <a:srgbClr val="B443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03336" y="5239512"/>
            <a:ext cx="280720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当前缺口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8375904" y="5678424"/>
            <a:ext cx="2834639" cy="118872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• 文档有案例描述；可复现代码与系统实验需补齐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8600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47E7D"/>
                </a:solidFill>
                <a:latin typeface="PingFang SC" panose="020B0400000000000000" charset="-122"/>
              </a:rPr>
              <a:t>PAPER 1</a:t>
            </a:r>
            <a:endParaRPr sz="1000" b="1">
              <a:solidFill>
                <a:srgbClr val="147E7D"/>
              </a:solidFill>
              <a:latin typeface="PingFang SC" panose="020B0400000000000000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62A3F"/>
                </a:solidFill>
                <a:latin typeface="PingFang SC" panose="020B0400000000000000" charset="-122"/>
              </a:rPr>
              <a:t>Paper 1：创新边界</a:t>
            </a:r>
            <a:endParaRPr sz="2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107899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从现有文档中提炼三个可直接实验的贡献，避免泛称“人机协作”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94360" y="1417320"/>
            <a:ext cx="10972800" cy="0"/>
          </a:xfrm>
          <a:prstGeom prst="line">
            <a:avLst/>
          </a:prstGeom>
          <a:ln w="12700">
            <a:solidFill>
              <a:srgbClr val="D3DA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21792" y="6510528"/>
            <a:ext cx="4572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800" b="0">
                <a:solidFill>
                  <a:srgbClr val="5B6874"/>
                </a:solidFill>
                <a:latin typeface="PingFang SC" panose="020B0400000000000000" charset="-122"/>
              </a:rPr>
              <a:t>Ontology Action Layer Research Plan</a:t>
            </a:r>
            <a:endParaRPr sz="8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1">
                <a:solidFill>
                  <a:srgbClr val="5B6874"/>
                </a:solidFill>
                <a:latin typeface="PingFang SC" panose="020B0400000000000000" charset="-122"/>
              </a:rPr>
              <a:t>15</a:t>
            </a:r>
            <a:endParaRPr sz="900" b="1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40080" y="1691640"/>
            <a:ext cx="3493008" cy="4224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24528"/>
          </a:xfrm>
          <a:prstGeom prst="rect">
            <a:avLst/>
          </a:prstGeom>
          <a:solidFill>
            <a:srgbClr val="147E7D"/>
          </a:solidFill>
          <a:ln w="12700">
            <a:solidFill>
              <a:srgbClr val="147E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56232"/>
            <a:ext cx="3054096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成本自适应证据获取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68680" y="2295144"/>
            <a:ext cx="3081527" cy="3474720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Phase A 用 metadata 实现全量低成本覆盖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Phase B 仅对高价值/不确定候选做采样 JOIN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比较 full validation 的质量—计算成本前沿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352544" y="1691640"/>
            <a:ext cx="3493008" cy="4224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2544" y="1691640"/>
            <a:ext cx="73152" cy="4224528"/>
          </a:xfrm>
          <a:prstGeom prst="rect">
            <a:avLst/>
          </a:prstGeom>
          <a:solidFill>
            <a:srgbClr val="34845B"/>
          </a:solidFill>
          <a:ln w="12700">
            <a:solidFill>
              <a:srgbClr val="34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8576" y="1856232"/>
            <a:ext cx="3054096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证据—共识双轨生命周期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81144" y="2295144"/>
            <a:ext cx="3081527" cy="3474720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5B6874"/>
                </a:solidFill>
                <a:latin typeface="PingFang SC" panose="020B0400000000000000" charset="-122"/>
              </a:rPr>
              <a:t>• 机器证据与人的业务确认分开记录</a:t>
            </a:r>
            <a:endParaRPr sz="14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5B6874"/>
                </a:solidFill>
                <a:latin typeface="PingFang SC" panose="020B0400000000000000" charset="-122"/>
              </a:rPr>
              <a:t>• confidence 不等于 consensus_level</a:t>
            </a:r>
            <a:endParaRPr sz="14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5B6874"/>
                </a:solidFill>
                <a:latin typeface="PingFang SC" panose="020B0400000000000000" charset="-122"/>
              </a:rPr>
              <a:t>• 测 calibration、争议识别和专家时间</a:t>
            </a:r>
            <a:endParaRPr sz="14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65008" y="1691640"/>
            <a:ext cx="3493008" cy="4224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5008" y="1691640"/>
            <a:ext cx="73152" cy="4224528"/>
          </a:xfrm>
          <a:prstGeom prst="rect">
            <a:avLst/>
          </a:prstGeom>
          <a:solidFill>
            <a:srgbClr val="D28B23"/>
          </a:solidFill>
          <a:ln w="12700">
            <a:solidFill>
              <a:srgbClr val="D28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856232"/>
            <a:ext cx="3054096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漂移感知的增量演化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93608" y="2295144"/>
            <a:ext cx="3081527" cy="3474720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5B6874"/>
                </a:solidFill>
                <a:latin typeface="PingFang SC" panose="020B0400000000000000" charset="-122"/>
              </a:rPr>
              <a:t>• Schema hash / version 定位受影响关系</a:t>
            </a:r>
            <a:endParaRPr sz="14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5B6874"/>
                </a:solidFill>
                <a:latin typeface="PingFang SC" panose="020B0400000000000000" charset="-122"/>
              </a:rPr>
              <a:t>• soft deprecation 后选择性重验证</a:t>
            </a:r>
            <a:endParaRPr sz="14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5B6874"/>
                </a:solidFill>
                <a:latin typeface="PingFang SC" panose="020B0400000000000000" charset="-122"/>
              </a:rPr>
              <a:t>• 比较全量重建和静态目录的恢复成本</a:t>
            </a:r>
            <a:endParaRPr sz="14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05840" y="6016752"/>
            <a:ext cx="101498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B4433E"/>
                </a:solidFill>
                <a:latin typeface="PingFang SC" panose="020B0400000000000000" charset="-122"/>
              </a:rPr>
              <a:t>联邦文件存储和 Git 合并是工程贡献；论文创新必须由质量、计算成本、人力成本和漂移恢复实验支撑。</a:t>
            </a:r>
            <a:endParaRPr sz="1300" b="1">
              <a:solidFill>
                <a:srgbClr val="B4433E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8600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47E7D"/>
                </a:solidFill>
                <a:latin typeface="PingFang SC" panose="020B0400000000000000" charset="-122"/>
              </a:rPr>
              <a:t>PAPER 2</a:t>
            </a:r>
            <a:endParaRPr sz="1000" b="1">
              <a:solidFill>
                <a:srgbClr val="147E7D"/>
              </a:solidFill>
              <a:latin typeface="PingFang SC" panose="020B0400000000000000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62A3F"/>
                </a:solidFill>
                <a:latin typeface="PingFang SC" panose="020B0400000000000000" charset="-122"/>
              </a:rPr>
              <a:t>Paper 2：动作抽取</a:t>
            </a:r>
            <a:endParaRPr sz="2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107899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输入和输出固定：Document + Existing Ontology → Grounded IR Patch + Evidence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94360" y="1417320"/>
            <a:ext cx="10972800" cy="0"/>
          </a:xfrm>
          <a:prstGeom prst="line">
            <a:avLst/>
          </a:prstGeom>
          <a:ln w="12700">
            <a:solidFill>
              <a:srgbClr val="D3DA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21792" y="6510528"/>
            <a:ext cx="4572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800" b="0">
                <a:solidFill>
                  <a:srgbClr val="5B6874"/>
                </a:solidFill>
                <a:latin typeface="PingFang SC" panose="020B0400000000000000" charset="-122"/>
              </a:rPr>
              <a:t>Ontology Action Layer Research Plan</a:t>
            </a:r>
            <a:endParaRPr sz="8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1">
                <a:solidFill>
                  <a:srgbClr val="5B6874"/>
                </a:solidFill>
                <a:latin typeface="PingFang SC" panose="020B0400000000000000" charset="-122"/>
              </a:rPr>
              <a:t>16</a:t>
            </a:r>
            <a:endParaRPr sz="900" b="1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1874519"/>
            <a:ext cx="2029968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7E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9224" y="2002536"/>
            <a:ext cx="502920" cy="310896"/>
          </a:xfrm>
          <a:prstGeom prst="roundRect">
            <a:avLst>
              <a:gd name="adj" fmla="val 8000"/>
            </a:avLst>
          </a:prstGeom>
          <a:solidFill>
            <a:srgbClr val="147E7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2011679"/>
            <a:ext cx="50292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1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216152" y="2002536"/>
            <a:ext cx="11887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62A3F"/>
                </a:solidFill>
                <a:latin typeface="PingFang SC" panose="020B0400000000000000" charset="-122"/>
              </a:rPr>
              <a:t>结构解析</a:t>
            </a:r>
            <a:endParaRPr sz="15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67512" y="2496312"/>
            <a:ext cx="1700784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标题、表格、步骤号、版面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2551176" y="2542032"/>
            <a:ext cx="237744" cy="0"/>
          </a:xfrm>
          <a:prstGeom prst="line">
            <a:avLst/>
          </a:prstGeom>
          <a:ln w="27940">
            <a:solidFill>
              <a:srgbClr val="147E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843784" y="1874519"/>
            <a:ext cx="2029968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67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90088" y="2002536"/>
            <a:ext cx="502920" cy="310896"/>
          </a:xfrm>
          <a:prstGeom prst="roundRect">
            <a:avLst>
              <a:gd name="adj" fmla="val 8000"/>
            </a:avLst>
          </a:prstGeom>
          <a:solidFill>
            <a:srgbClr val="2A679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90088" y="2011679"/>
            <a:ext cx="50292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2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557016" y="2002536"/>
            <a:ext cx="11887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62A3F"/>
                </a:solidFill>
                <a:latin typeface="PingFang SC" panose="020B0400000000000000" charset="-122"/>
              </a:rPr>
              <a:t>程序单元</a:t>
            </a:r>
            <a:endParaRPr sz="15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008376" y="2496312"/>
            <a:ext cx="1700784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动作、条件、异常、规则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4892040" y="2542032"/>
            <a:ext cx="237744" cy="0"/>
          </a:xfrm>
          <a:prstGeom prst="line">
            <a:avLst/>
          </a:prstGeom>
          <a:ln w="27940">
            <a:solidFill>
              <a:srgbClr val="2A67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84648" y="1874519"/>
            <a:ext cx="2029968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28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30952" y="2002536"/>
            <a:ext cx="502920" cy="310896"/>
          </a:xfrm>
          <a:prstGeom prst="roundRect">
            <a:avLst>
              <a:gd name="adj" fmla="val 8000"/>
            </a:avLst>
          </a:prstGeom>
          <a:solidFill>
            <a:srgbClr val="D28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952" y="2011679"/>
            <a:ext cx="50292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3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897880" y="2002536"/>
            <a:ext cx="11887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62A3F"/>
                </a:solidFill>
                <a:latin typeface="PingFang SC" panose="020B0400000000000000" charset="-122"/>
              </a:rPr>
              <a:t>LLM 抽取</a:t>
            </a:r>
            <a:endParaRPr sz="15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349240" y="2496312"/>
            <a:ext cx="1700784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受控 Action IR + evidence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25" name="Connector 24"/>
          <p:cNvCxnSpPr/>
          <p:nvPr/>
        </p:nvCxnSpPr>
        <p:spPr>
          <a:xfrm>
            <a:off x="7232904" y="2542032"/>
            <a:ext cx="237744" cy="0"/>
          </a:xfrm>
          <a:prstGeom prst="line">
            <a:avLst/>
          </a:prstGeom>
          <a:ln w="27940">
            <a:solidFill>
              <a:srgbClr val="D28B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525512" y="1874519"/>
            <a:ext cx="2029968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671816" y="2002536"/>
            <a:ext cx="502920" cy="310896"/>
          </a:xfrm>
          <a:prstGeom prst="roundRect">
            <a:avLst>
              <a:gd name="adj" fmla="val 8000"/>
            </a:avLst>
          </a:prstGeom>
          <a:solidFill>
            <a:srgbClr val="34845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71816" y="2011679"/>
            <a:ext cx="50292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4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238744" y="2002536"/>
            <a:ext cx="11887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62A3F"/>
                </a:solidFill>
                <a:latin typeface="PingFang SC" panose="020B0400000000000000" charset="-122"/>
              </a:rPr>
              <a:t>本体对齐</a:t>
            </a:r>
            <a:endParaRPr sz="15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690104" y="2496312"/>
            <a:ext cx="1700784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候选检索 + 类型/角色约束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31" name="Connector 30"/>
          <p:cNvCxnSpPr/>
          <p:nvPr/>
        </p:nvCxnSpPr>
        <p:spPr>
          <a:xfrm>
            <a:off x="9573768" y="2542032"/>
            <a:ext cx="237744" cy="0"/>
          </a:xfrm>
          <a:prstGeom prst="line">
            <a:avLst/>
          </a:prstGeom>
          <a:ln w="27940">
            <a:solidFill>
              <a:srgbClr val="3484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866376" y="1874519"/>
            <a:ext cx="2029968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43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12680" y="2002536"/>
            <a:ext cx="502920" cy="310896"/>
          </a:xfrm>
          <a:prstGeom prst="roundRect">
            <a:avLst>
              <a:gd name="adj" fmla="val 8000"/>
            </a:avLst>
          </a:prstGeom>
          <a:solidFill>
            <a:srgbClr val="B4433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12680" y="2011679"/>
            <a:ext cx="50292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5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0579608" y="2002536"/>
            <a:ext cx="11887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62A3F"/>
                </a:solidFill>
                <a:latin typeface="PingFang SC" panose="020B0400000000000000" charset="-122"/>
              </a:rPr>
              <a:t>图与验证</a:t>
            </a:r>
            <a:endParaRPr sz="15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0030968" y="2496312"/>
            <a:ext cx="1700784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control flow + schema checks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822960" y="4069080"/>
            <a:ext cx="49834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60" y="4069080"/>
            <a:ext cx="73152" cy="1417320"/>
          </a:xfrm>
          <a:prstGeom prst="rect">
            <a:avLst/>
          </a:prstGeom>
          <a:solidFill>
            <a:srgbClr val="147E7D"/>
          </a:solidFill>
          <a:ln w="12700">
            <a:solidFill>
              <a:srgbClr val="147E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78992" y="4233672"/>
            <a:ext cx="454456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当前已有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051560" y="4672584"/>
            <a:ext cx="4572000" cy="667512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40 篇内部试验；Rule / LLM-Only / LLM-Ontology / Ours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6382512" y="4069080"/>
            <a:ext cx="49834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82512" y="4069080"/>
            <a:ext cx="73152" cy="1417320"/>
          </a:xfrm>
          <a:prstGeom prst="rect">
            <a:avLst/>
          </a:prstGeom>
          <a:solidFill>
            <a:srgbClr val="B4433E"/>
          </a:solidFill>
          <a:ln w="12700">
            <a:solidFill>
              <a:srgbClr val="B443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38544" y="4233672"/>
            <a:ext cx="454456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当前缺失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611112" y="4672584"/>
            <a:ext cx="4572000" cy="667512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公开 benchmark、完整金标；evidence 和 control-flow 评测为 0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8600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47E7D"/>
                </a:solidFill>
                <a:latin typeface="PingFang SC" panose="020B0400000000000000" charset="-122"/>
              </a:rPr>
              <a:t>PAPER 2</a:t>
            </a:r>
            <a:endParaRPr sz="1000" b="1">
              <a:solidFill>
                <a:srgbClr val="147E7D"/>
              </a:solidFill>
              <a:latin typeface="PingFang SC" panose="020B0400000000000000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62A3F"/>
                </a:solidFill>
                <a:latin typeface="PingFang SC" panose="020B0400000000000000" charset="-122"/>
              </a:rPr>
              <a:t>Paper 2：当前结果</a:t>
            </a:r>
            <a:endParaRPr sz="2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107899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40 篇内部样本表明本体有帮助，但完整方法尚未超过直接基线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94360" y="1417320"/>
            <a:ext cx="10972800" cy="0"/>
          </a:xfrm>
          <a:prstGeom prst="line">
            <a:avLst/>
          </a:prstGeom>
          <a:ln w="12700">
            <a:solidFill>
              <a:srgbClr val="D3DA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21792" y="6510528"/>
            <a:ext cx="4572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800" b="0">
                <a:solidFill>
                  <a:srgbClr val="5B6874"/>
                </a:solidFill>
                <a:latin typeface="PingFang SC" panose="020B0400000000000000" charset="-122"/>
              </a:rPr>
              <a:t>Ontology Action Layer Research Plan</a:t>
            </a:r>
            <a:endParaRPr sz="8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1">
                <a:solidFill>
                  <a:srgbClr val="5B6874"/>
                </a:solidFill>
                <a:latin typeface="PingFang SC" panose="020B0400000000000000" charset="-122"/>
              </a:rPr>
              <a:t>17</a:t>
            </a:r>
            <a:endParaRPr sz="900" b="1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8368" y="1691640"/>
            <a:ext cx="333756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691640"/>
            <a:ext cx="73152" cy="4160520"/>
          </a:xfrm>
          <a:prstGeom prst="rect">
            <a:avLst/>
          </a:prstGeom>
          <a:solidFill>
            <a:srgbClr val="147E7D"/>
          </a:solidFill>
          <a:ln w="12700">
            <a:solidFill>
              <a:srgbClr val="147E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856232"/>
            <a:ext cx="28986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LLM-Ontology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86968" y="2295144"/>
            <a:ext cx="2926079" cy="3410712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5B6874"/>
                </a:solidFill>
                <a:latin typeface="PingFang SC" panose="020B0400000000000000" charset="-122"/>
              </a:rPr>
              <a:t>• Action mention F1：85.1%</a:t>
            </a:r>
            <a:endParaRPr sz="16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5B6874"/>
                </a:solidFill>
                <a:latin typeface="PingFang SC" panose="020B0400000000000000" charset="-122"/>
              </a:rPr>
              <a:t>• Action type：80.3%</a:t>
            </a:r>
            <a:endParaRPr sz="16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5B6874"/>
                </a:solidFill>
                <a:latin typeface="PingFang SC" panose="020B0400000000000000" charset="-122"/>
              </a:rPr>
              <a:t>• Target grounding：98.4%</a:t>
            </a:r>
            <a:endParaRPr sz="16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5B6874"/>
                </a:solidFill>
                <a:latin typeface="PingFang SC" panose="020B0400000000000000" charset="-122"/>
              </a:rPr>
              <a:t>• Validation pass：81.0%</a:t>
            </a:r>
            <a:endParaRPr sz="16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416552" y="1691640"/>
            <a:ext cx="333756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6552" y="1691640"/>
            <a:ext cx="73152" cy="4160520"/>
          </a:xfrm>
          <a:prstGeom prst="rect">
            <a:avLst/>
          </a:prstGeom>
          <a:solidFill>
            <a:srgbClr val="2A679E"/>
          </a:solidFill>
          <a:ln w="12700">
            <a:solidFill>
              <a:srgbClr val="2A67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72584" y="1856232"/>
            <a:ext cx="28986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Ours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45152" y="2295144"/>
            <a:ext cx="2926079" cy="3410712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Action mention F1：79.2%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Action type：78.3%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Target grounding：98.5%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Parameter grounding F1：91.6%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Validation pass：22.8%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174736" y="1691640"/>
            <a:ext cx="333756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74736" y="1691640"/>
            <a:ext cx="73152" cy="4160520"/>
          </a:xfrm>
          <a:prstGeom prst="rect">
            <a:avLst/>
          </a:prstGeom>
          <a:solidFill>
            <a:srgbClr val="D28B23"/>
          </a:solidFill>
          <a:ln w="12700">
            <a:solidFill>
              <a:srgbClr val="D28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7" y="1856232"/>
            <a:ext cx="289864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结论与下一步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403336" y="2295144"/>
            <a:ext cx="2926079" cy="3410712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当前不能声称 Ours 最优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先定位 validation pass 下降原因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修复 evidence / flow 评测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再做公开数据与 Full IR 金标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8600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47E7D"/>
                </a:solidFill>
                <a:latin typeface="PingFang SC" panose="020B0400000000000000" charset="-122"/>
              </a:rPr>
              <a:t>PAPER 2</a:t>
            </a:r>
            <a:endParaRPr sz="1000" b="1">
              <a:solidFill>
                <a:srgbClr val="147E7D"/>
              </a:solidFill>
              <a:latin typeface="PingFang SC" panose="020B0400000000000000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62A3F"/>
                </a:solidFill>
                <a:latin typeface="PingFang SC" panose="020B0400000000000000" charset="-122"/>
              </a:rPr>
              <a:t>Paper 2：成立门槛</a:t>
            </a:r>
            <a:endParaRPr sz="2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107899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只有满足以下三项，才能把输出契约写成方法创新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94360" y="1417320"/>
            <a:ext cx="10972800" cy="0"/>
          </a:xfrm>
          <a:prstGeom prst="line">
            <a:avLst/>
          </a:prstGeom>
          <a:ln w="12700">
            <a:solidFill>
              <a:srgbClr val="D3DA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21792" y="6510528"/>
            <a:ext cx="4572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800" b="0">
                <a:solidFill>
                  <a:srgbClr val="5B6874"/>
                </a:solidFill>
                <a:latin typeface="PingFang SC" panose="020B0400000000000000" charset="-122"/>
              </a:rPr>
              <a:t>Ontology Action Layer Research Plan</a:t>
            </a:r>
            <a:endParaRPr sz="8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1">
                <a:solidFill>
                  <a:srgbClr val="5B6874"/>
                </a:solidFill>
                <a:latin typeface="PingFang SC" panose="020B0400000000000000" charset="-122"/>
              </a:rPr>
              <a:t>18</a:t>
            </a:r>
            <a:endParaRPr sz="900" b="1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40080" y="1691640"/>
            <a:ext cx="3493008" cy="4224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24528"/>
          </a:xfrm>
          <a:prstGeom prst="rect">
            <a:avLst/>
          </a:prstGeom>
          <a:solidFill>
            <a:srgbClr val="147E7D"/>
          </a:solidFill>
          <a:ln w="12700">
            <a:solidFill>
              <a:srgbClr val="147E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56232"/>
            <a:ext cx="3054096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公开数据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68680" y="2295144"/>
            <a:ext cx="3081527" cy="3474720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MyFixit / MSPT：动作、对象、参数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PET / PAGED：control-flow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按字段 mask 报告，不伪造完整标签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352544" y="1691640"/>
            <a:ext cx="3493008" cy="4224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52544" y="1691640"/>
            <a:ext cx="73152" cy="4224528"/>
          </a:xfrm>
          <a:prstGeom prst="rect">
            <a:avLst/>
          </a:prstGeom>
          <a:solidFill>
            <a:srgbClr val="D28B23"/>
          </a:solidFill>
          <a:ln w="12700">
            <a:solidFill>
              <a:srgbClr val="D28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8576" y="1856232"/>
            <a:ext cx="3054096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完整金标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81144" y="2295144"/>
            <a:ext cx="3081527" cy="3474720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100–200 个 Full Action IR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双人标注 + 专家裁决 + agreement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测 exact match、evidence、validation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65008" y="1691640"/>
            <a:ext cx="3493008" cy="42245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5008" y="1691640"/>
            <a:ext cx="73152" cy="4224528"/>
          </a:xfrm>
          <a:prstGeom prst="rect">
            <a:avLst/>
          </a:prstGeom>
          <a:solidFill>
            <a:srgbClr val="34845B"/>
          </a:solidFill>
          <a:ln w="12700">
            <a:solidFill>
              <a:srgbClr val="34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856232"/>
            <a:ext cx="3054096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直接对照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93608" y="2295144"/>
            <a:ext cx="3081527" cy="3474720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必须超过 LLM-Only 和 LLM-Ontology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或证明可解释的质量/校验权衡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并验证 ActionBank 下游效用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05840" y="6016752"/>
            <a:ext cx="101498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>
                <a:solidFill>
                  <a:srgbClr val="B4433E"/>
                </a:solidFill>
                <a:latin typeface="PingFang SC" panose="020B0400000000000000" charset="-122"/>
              </a:rPr>
              <a:t>PAGED 是 benchmark 强敌；2026 Multi-Agent Procedural Graph 是方法强敌；OMPD 是工业表示强敌。</a:t>
            </a:r>
            <a:endParaRPr sz="1300" b="1">
              <a:solidFill>
                <a:srgbClr val="B4433E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8600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47E7D"/>
                </a:solidFill>
                <a:latin typeface="PingFang SC" panose="020B0400000000000000" charset="-122"/>
              </a:rPr>
              <a:t>PAPER 3</a:t>
            </a:r>
            <a:endParaRPr sz="1000" b="1">
              <a:solidFill>
                <a:srgbClr val="147E7D"/>
              </a:solidFill>
              <a:latin typeface="PingFang SC" panose="020B0400000000000000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62A3F"/>
                </a:solidFill>
                <a:latin typeface="PingFang SC" panose="020B0400000000000000" charset="-122"/>
              </a:rPr>
              <a:t>Paper 3：运行时语义</a:t>
            </a:r>
            <a:endParaRPr sz="2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107899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方法不是额外安全规则：同一 Action IR 同时生成状态检查、violation 和 repair 条件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94360" y="1417320"/>
            <a:ext cx="10972800" cy="0"/>
          </a:xfrm>
          <a:prstGeom prst="line">
            <a:avLst/>
          </a:prstGeom>
          <a:ln w="12700">
            <a:solidFill>
              <a:srgbClr val="D3DA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21792" y="6510528"/>
            <a:ext cx="4572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800" b="0">
                <a:solidFill>
                  <a:srgbClr val="5B6874"/>
                </a:solidFill>
                <a:latin typeface="PingFang SC" panose="020B0400000000000000" charset="-122"/>
              </a:rPr>
              <a:t>Ontology Action Layer Research Plan</a:t>
            </a:r>
            <a:endParaRPr sz="8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1">
                <a:solidFill>
                  <a:srgbClr val="5B6874"/>
                </a:solidFill>
                <a:latin typeface="PingFang SC" panose="020B0400000000000000" charset="-122"/>
              </a:rPr>
              <a:t>19</a:t>
            </a:r>
            <a:endParaRPr sz="900" b="1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2029968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7E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9224" y="1911095"/>
            <a:ext cx="502920" cy="310896"/>
          </a:xfrm>
          <a:prstGeom prst="roundRect">
            <a:avLst>
              <a:gd name="adj" fmla="val 8000"/>
            </a:avLst>
          </a:prstGeom>
          <a:solidFill>
            <a:srgbClr val="147E7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920239"/>
            <a:ext cx="50292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1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216152" y="1911095"/>
            <a:ext cx="11887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62A3F"/>
                </a:solidFill>
                <a:latin typeface="PingFang SC" panose="020B0400000000000000" charset="-122"/>
              </a:rPr>
              <a:t>IR 编译</a:t>
            </a:r>
            <a:endParaRPr sz="15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67512" y="2404872"/>
            <a:ext cx="1700784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确定性生成 ActionBank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2551176" y="2450592"/>
            <a:ext cx="237744" cy="0"/>
          </a:xfrm>
          <a:prstGeom prst="line">
            <a:avLst/>
          </a:prstGeom>
          <a:ln w="27940">
            <a:solidFill>
              <a:srgbClr val="147E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843784" y="1783080"/>
            <a:ext cx="2029968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67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90088" y="1911095"/>
            <a:ext cx="502920" cy="310896"/>
          </a:xfrm>
          <a:prstGeom prst="roundRect">
            <a:avLst>
              <a:gd name="adj" fmla="val 8000"/>
            </a:avLst>
          </a:prstGeom>
          <a:solidFill>
            <a:srgbClr val="2A679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90088" y="1920239"/>
            <a:ext cx="50292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2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557016" y="1911095"/>
            <a:ext cx="11887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62A3F"/>
                </a:solidFill>
                <a:latin typeface="PingFang SC" panose="020B0400000000000000" charset="-122"/>
              </a:rPr>
              <a:t>状态更新</a:t>
            </a:r>
            <a:endParaRPr sz="15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008376" y="2404872"/>
            <a:ext cx="1700784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只接受已观察工具结果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4892040" y="2450592"/>
            <a:ext cx="237744" cy="0"/>
          </a:xfrm>
          <a:prstGeom prst="line">
            <a:avLst/>
          </a:prstGeom>
          <a:ln w="27940">
            <a:solidFill>
              <a:srgbClr val="2A67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84648" y="1783080"/>
            <a:ext cx="2029968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28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30952" y="1911095"/>
            <a:ext cx="502920" cy="310896"/>
          </a:xfrm>
          <a:prstGeom prst="roundRect">
            <a:avLst>
              <a:gd name="adj" fmla="val 8000"/>
            </a:avLst>
          </a:prstGeom>
          <a:solidFill>
            <a:srgbClr val="D28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952" y="1920239"/>
            <a:ext cx="50292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3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897880" y="1911095"/>
            <a:ext cx="11887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62A3F"/>
                </a:solidFill>
                <a:latin typeface="PingFang SC" panose="020B0400000000000000" charset="-122"/>
              </a:rPr>
              <a:t>动作提案</a:t>
            </a:r>
            <a:endParaRPr sz="15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349240" y="2404872"/>
            <a:ext cx="1700784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LLM 给出 action + args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25" name="Connector 24"/>
          <p:cNvCxnSpPr/>
          <p:nvPr/>
        </p:nvCxnSpPr>
        <p:spPr>
          <a:xfrm>
            <a:off x="7232904" y="2450592"/>
            <a:ext cx="237744" cy="0"/>
          </a:xfrm>
          <a:prstGeom prst="line">
            <a:avLst/>
          </a:prstGeom>
          <a:ln w="27940">
            <a:solidFill>
              <a:srgbClr val="D28B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525512" y="1783080"/>
            <a:ext cx="2029968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43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671816" y="1911095"/>
            <a:ext cx="502920" cy="310896"/>
          </a:xfrm>
          <a:prstGeom prst="roundRect">
            <a:avLst>
              <a:gd name="adj" fmla="val 8000"/>
            </a:avLst>
          </a:prstGeom>
          <a:solidFill>
            <a:srgbClr val="B4433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71816" y="1920239"/>
            <a:ext cx="50292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4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238744" y="1911095"/>
            <a:ext cx="11887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62A3F"/>
                </a:solidFill>
                <a:latin typeface="PingFang SC" panose="020B0400000000000000" charset="-122"/>
              </a:rPr>
              <a:t>本体校验</a:t>
            </a:r>
            <a:endParaRPr sz="15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690104" y="2404872"/>
            <a:ext cx="1700784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类型/角色/状态/确认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31" name="Connector 30"/>
          <p:cNvCxnSpPr/>
          <p:nvPr/>
        </p:nvCxnSpPr>
        <p:spPr>
          <a:xfrm>
            <a:off x="9573768" y="2450592"/>
            <a:ext cx="237744" cy="0"/>
          </a:xfrm>
          <a:prstGeom prst="line">
            <a:avLst/>
          </a:prstGeom>
          <a:ln w="27940">
            <a:solidFill>
              <a:srgbClr val="B44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866376" y="1783080"/>
            <a:ext cx="2029968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12680" y="1911095"/>
            <a:ext cx="502920" cy="310896"/>
          </a:xfrm>
          <a:prstGeom prst="roundRect">
            <a:avLst>
              <a:gd name="adj" fmla="val 8000"/>
            </a:avLst>
          </a:prstGeom>
          <a:solidFill>
            <a:srgbClr val="34845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12680" y="1920239"/>
            <a:ext cx="50292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5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0579608" y="1911095"/>
            <a:ext cx="11887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62A3F"/>
                </a:solidFill>
                <a:latin typeface="PingFang SC" panose="020B0400000000000000" charset="-122"/>
              </a:rPr>
              <a:t>执行/修复</a:t>
            </a:r>
            <a:endParaRPr sz="15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0030968" y="2404872"/>
            <a:ext cx="1700784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call 或结构化 violation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868680" y="4005072"/>
            <a:ext cx="48920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68680" y="4005072"/>
            <a:ext cx="73152" cy="1508760"/>
          </a:xfrm>
          <a:prstGeom prst="rect">
            <a:avLst/>
          </a:prstGeom>
          <a:solidFill>
            <a:srgbClr val="2A679E"/>
          </a:solidFill>
          <a:ln w="12700">
            <a:solidFill>
              <a:srgbClr val="2A67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24712" y="4169663"/>
            <a:ext cx="4453127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Epistemic Action：弱 Grounding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097280" y="4608576"/>
            <a:ext cx="4480559" cy="758952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查询用于获取未知状态；若要求对象已缓存，会形成启动死锁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6428232" y="4005072"/>
            <a:ext cx="48920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28232" y="4005072"/>
            <a:ext cx="73152" cy="1508760"/>
          </a:xfrm>
          <a:prstGeom prst="rect">
            <a:avLst/>
          </a:prstGeom>
          <a:solidFill>
            <a:srgbClr val="B4433E"/>
          </a:solidFill>
          <a:ln w="12700">
            <a:solidFill>
              <a:srgbClr val="B443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84264" y="4169663"/>
            <a:ext cx="4453127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Mutating Action：强 Grounding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656832" y="4608576"/>
            <a:ext cx="4480559" cy="758952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改变状态前检查对象、参数角色、前置状态、策略和绑定确认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8600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47E7D"/>
                </a:solidFill>
                <a:latin typeface="PingFang SC" panose="020B0400000000000000" charset="-122"/>
              </a:rPr>
              <a:t>PAPER 3</a:t>
            </a:r>
            <a:endParaRPr sz="1000" b="1">
              <a:solidFill>
                <a:srgbClr val="147E7D"/>
              </a:solidFill>
              <a:latin typeface="PingFang SC" panose="020B0400000000000000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62A3F"/>
                </a:solidFill>
                <a:latin typeface="PingFang SC" panose="020B0400000000000000" charset="-122"/>
              </a:rPr>
              <a:t>Paper 3：执行示例</a:t>
            </a:r>
            <a:endParaRPr sz="2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107899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取消订单任务如何经过状态获取、确认绑定和强 grounding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94360" y="1417320"/>
            <a:ext cx="10972800" cy="0"/>
          </a:xfrm>
          <a:prstGeom prst="line">
            <a:avLst/>
          </a:prstGeom>
          <a:ln w="12700">
            <a:solidFill>
              <a:srgbClr val="D3DA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21792" y="6510528"/>
            <a:ext cx="4572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800" b="0">
                <a:solidFill>
                  <a:srgbClr val="5B6874"/>
                </a:solidFill>
                <a:latin typeface="PingFang SC" panose="020B0400000000000000" charset="-122"/>
              </a:rPr>
              <a:t>Ontology Action Layer Research Plan</a:t>
            </a:r>
            <a:endParaRPr sz="8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1">
                <a:solidFill>
                  <a:srgbClr val="5B6874"/>
                </a:solidFill>
                <a:latin typeface="PingFang SC" panose="020B0400000000000000" charset="-122"/>
              </a:rPr>
              <a:t>20</a:t>
            </a:r>
            <a:endParaRPr sz="900" b="1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1719072"/>
            <a:ext cx="2029968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67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9224" y="1847088"/>
            <a:ext cx="502920" cy="310896"/>
          </a:xfrm>
          <a:prstGeom prst="roundRect">
            <a:avLst>
              <a:gd name="adj" fmla="val 8000"/>
            </a:avLst>
          </a:prstGeom>
          <a:solidFill>
            <a:srgbClr val="2A679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856231"/>
            <a:ext cx="50292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1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216152" y="1847088"/>
            <a:ext cx="11887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62A3F"/>
                </a:solidFill>
                <a:latin typeface="PingFang SC" panose="020B0400000000000000" charset="-122"/>
              </a:rPr>
              <a:t>认证</a:t>
            </a:r>
            <a:endParaRPr sz="15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67512" y="2340864"/>
            <a:ext cx="1700784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find_user_id_by_email
→ user_authenticated=true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2551176" y="2386584"/>
            <a:ext cx="237744" cy="0"/>
          </a:xfrm>
          <a:prstGeom prst="line">
            <a:avLst/>
          </a:prstGeom>
          <a:ln w="27940">
            <a:solidFill>
              <a:srgbClr val="2A67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843784" y="1719072"/>
            <a:ext cx="2029968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7E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90088" y="1847088"/>
            <a:ext cx="502920" cy="310896"/>
          </a:xfrm>
          <a:prstGeom prst="roundRect">
            <a:avLst>
              <a:gd name="adj" fmla="val 8000"/>
            </a:avLst>
          </a:prstGeom>
          <a:solidFill>
            <a:srgbClr val="147E7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90088" y="1856231"/>
            <a:ext cx="50292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2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557016" y="1847088"/>
            <a:ext cx="11887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62A3F"/>
                </a:solidFill>
                <a:latin typeface="PingFang SC" panose="020B0400000000000000" charset="-122"/>
              </a:rPr>
              <a:t>读取订单</a:t>
            </a:r>
            <a:endParaRPr sz="15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008376" y="2340864"/>
            <a:ext cx="1700784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get_order_details(#123)
→ status=pending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4892040" y="2386584"/>
            <a:ext cx="237744" cy="0"/>
          </a:xfrm>
          <a:prstGeom prst="line">
            <a:avLst/>
          </a:prstGeom>
          <a:ln w="27940">
            <a:solidFill>
              <a:srgbClr val="147E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84648" y="1719072"/>
            <a:ext cx="2029968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28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30952" y="1847088"/>
            <a:ext cx="502920" cy="310896"/>
          </a:xfrm>
          <a:prstGeom prst="roundRect">
            <a:avLst>
              <a:gd name="adj" fmla="val 8000"/>
            </a:avLst>
          </a:prstGeom>
          <a:solidFill>
            <a:srgbClr val="D28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952" y="1856231"/>
            <a:ext cx="50292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3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897880" y="1847088"/>
            <a:ext cx="11887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62A3F"/>
                </a:solidFill>
                <a:latin typeface="PingFang SC" panose="020B0400000000000000" charset="-122"/>
              </a:rPr>
              <a:t>绑定确认</a:t>
            </a:r>
            <a:endParaRPr sz="15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349240" y="2340864"/>
            <a:ext cx="1700784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ask_for_confirmation
绑定 action + arguments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25" name="Connector 24"/>
          <p:cNvCxnSpPr/>
          <p:nvPr/>
        </p:nvCxnSpPr>
        <p:spPr>
          <a:xfrm>
            <a:off x="7232904" y="2386584"/>
            <a:ext cx="237744" cy="0"/>
          </a:xfrm>
          <a:prstGeom prst="line">
            <a:avLst/>
          </a:prstGeom>
          <a:ln w="27940">
            <a:solidFill>
              <a:srgbClr val="D28B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525512" y="1719072"/>
            <a:ext cx="2029968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43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671816" y="1847088"/>
            <a:ext cx="502920" cy="310896"/>
          </a:xfrm>
          <a:prstGeom prst="roundRect">
            <a:avLst>
              <a:gd name="adj" fmla="val 8000"/>
            </a:avLst>
          </a:prstGeom>
          <a:solidFill>
            <a:srgbClr val="B4433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71816" y="1856231"/>
            <a:ext cx="50292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4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238744" y="1847088"/>
            <a:ext cx="11887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62A3F"/>
                </a:solidFill>
                <a:latin typeface="PingFang SC" panose="020B0400000000000000" charset="-122"/>
              </a:rPr>
              <a:t>强校验</a:t>
            </a:r>
            <a:endParaRPr sz="15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690104" y="2340864"/>
            <a:ext cx="1700784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target / status / reason /
confirmation 均满足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31" name="Connector 30"/>
          <p:cNvCxnSpPr/>
          <p:nvPr/>
        </p:nvCxnSpPr>
        <p:spPr>
          <a:xfrm>
            <a:off x="9573768" y="2386584"/>
            <a:ext cx="237744" cy="0"/>
          </a:xfrm>
          <a:prstGeom prst="line">
            <a:avLst/>
          </a:prstGeom>
          <a:ln w="27940">
            <a:solidFill>
              <a:srgbClr val="B44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866376" y="1719072"/>
            <a:ext cx="2029968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12680" y="1847088"/>
            <a:ext cx="502920" cy="310896"/>
          </a:xfrm>
          <a:prstGeom prst="roundRect">
            <a:avLst>
              <a:gd name="adj" fmla="val 8000"/>
            </a:avLst>
          </a:prstGeom>
          <a:solidFill>
            <a:srgbClr val="34845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12680" y="1856231"/>
            <a:ext cx="502920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5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0579608" y="1847088"/>
            <a:ext cx="11887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62A3F"/>
                </a:solidFill>
                <a:latin typeface="PingFang SC" panose="020B0400000000000000" charset="-122"/>
              </a:rPr>
              <a:t>执行效果</a:t>
            </a:r>
            <a:endParaRPr sz="15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0030968" y="2340864"/>
            <a:ext cx="1700784" cy="47548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cancel_pending_order
pending → cancelled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777240" y="3886200"/>
            <a:ext cx="5120640" cy="16642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3886200"/>
            <a:ext cx="73152" cy="1664208"/>
          </a:xfrm>
          <a:prstGeom prst="rect">
            <a:avLst/>
          </a:prstGeom>
          <a:solidFill>
            <a:srgbClr val="B4433E"/>
          </a:solidFill>
          <a:ln w="12700">
            <a:solidFill>
              <a:srgbClr val="B443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33271" y="4050791"/>
            <a:ext cx="4681727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为什么不能直接取消？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005840" y="4489704"/>
            <a:ext cx="4709159" cy="914400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5B6874"/>
                </a:solidFill>
                <a:latin typeface="PingFang SC" panose="020B0400000000000000" charset="-122"/>
              </a:rPr>
              <a:t>• 初始时订单对象未观察、状态未知、用户未确认</a:t>
            </a:r>
            <a:endParaRPr sz="14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5B6874"/>
                </a:solidFill>
                <a:latin typeface="PingFang SC" panose="020B0400000000000000" charset="-122"/>
              </a:rPr>
              <a:t>• Mutating action 必须满足 strong grounding</a:t>
            </a:r>
            <a:endParaRPr sz="14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6291072" y="3886200"/>
            <a:ext cx="5120640" cy="16642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91072" y="3886200"/>
            <a:ext cx="73152" cy="1664208"/>
          </a:xfrm>
          <a:prstGeom prst="rect">
            <a:avLst/>
          </a:prstGeom>
          <a:solidFill>
            <a:srgbClr val="2A679E"/>
          </a:solidFill>
          <a:ln w="12700">
            <a:solidFill>
              <a:srgbClr val="2A67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47104" y="4050791"/>
            <a:ext cx="4681727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状态反事实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519672" y="4489704"/>
            <a:ext cx="4709159" cy="914400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5B6874"/>
                </a:solidFill>
                <a:latin typeface="PingFang SC" panose="020B0400000000000000" charset="-122"/>
              </a:rPr>
              <a:t>• 若 status=delivered，则返回 PreconditionViolation</a:t>
            </a:r>
            <a:endParaRPr sz="14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5B6874"/>
                </a:solidFill>
                <a:latin typeface="PingFang SC" panose="020B0400000000000000" charset="-122"/>
              </a:rPr>
              <a:t>• Repair 应选择退货、询问或转人工，而不是重试取消</a:t>
            </a:r>
            <a:endParaRPr sz="14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8600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47E7D"/>
                </a:solidFill>
                <a:latin typeface="PingFang SC" panose="020B0400000000000000" charset="-122"/>
              </a:rPr>
              <a:t>PAPER 3</a:t>
            </a:r>
            <a:endParaRPr sz="1000" b="1">
              <a:solidFill>
                <a:srgbClr val="147E7D"/>
              </a:solidFill>
              <a:latin typeface="PingFang SC" panose="020B0400000000000000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62A3F"/>
                </a:solidFill>
                <a:latin typeface="PingFang SC" panose="020B0400000000000000" charset="-122"/>
              </a:rPr>
              <a:t>Paper 3：初步结果</a:t>
            </a:r>
            <a:endParaRPr sz="2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107899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主分析：341 个严格配对样本，114 个任务，3 个完整 trials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94360" y="1417320"/>
            <a:ext cx="10972800" cy="0"/>
          </a:xfrm>
          <a:prstGeom prst="line">
            <a:avLst/>
          </a:prstGeom>
          <a:ln w="12700">
            <a:solidFill>
              <a:srgbClr val="D3DA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21792" y="6510528"/>
            <a:ext cx="4572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800" b="0">
                <a:solidFill>
                  <a:srgbClr val="5B6874"/>
                </a:solidFill>
                <a:latin typeface="PingFang SC" panose="020B0400000000000000" charset="-122"/>
              </a:rPr>
              <a:t>Ontology Action Layer Research Plan</a:t>
            </a:r>
            <a:endParaRPr sz="8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1">
                <a:solidFill>
                  <a:srgbClr val="5B6874"/>
                </a:solidFill>
                <a:latin typeface="PingFang SC" panose="020B0400000000000000" charset="-122"/>
              </a:rPr>
              <a:t>21</a:t>
            </a:r>
            <a:endParaRPr sz="900" b="1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85800" y="1719072"/>
          <a:ext cx="498348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016752" y="1719072"/>
            <a:ext cx="5440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16752" y="1719072"/>
            <a:ext cx="73152" cy="1783080"/>
          </a:xfrm>
          <a:prstGeom prst="rect">
            <a:avLst/>
          </a:prstGeom>
          <a:solidFill>
            <a:srgbClr val="147E7D"/>
          </a:solidFill>
          <a:ln w="12700">
            <a:solidFill>
              <a:srgbClr val="147E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2784" y="1883664"/>
            <a:ext cx="500176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积极证据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45352" y="2322576"/>
            <a:ext cx="5029200" cy="1033271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+10.9 pp；paired McNemar p = 0.0029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Transfer calls：323 → 62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5B6874"/>
                </a:solidFill>
                <a:latin typeface="PingFang SC" panose="020B0400000000000000" charset="-122"/>
              </a:rPr>
              <a:t>• 说明机制值得完整重跑，而非已经定论</a:t>
            </a:r>
            <a:endParaRPr sz="15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016752" y="3730752"/>
            <a:ext cx="54406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A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16752" y="3730752"/>
            <a:ext cx="73152" cy="1920240"/>
          </a:xfrm>
          <a:prstGeom prst="rect">
            <a:avLst/>
          </a:prstGeom>
          <a:solidFill>
            <a:srgbClr val="B4433E"/>
          </a:solidFill>
          <a:ln w="12700">
            <a:solidFill>
              <a:srgbClr val="B443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4" y="3895344"/>
            <a:ext cx="5001768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不能回避的限制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245352" y="4334256"/>
            <a:ext cx="5029200" cy="1170432"/>
          </a:xfrm>
          <a:prstGeom prst="rect">
            <a:avLst/>
          </a:prstGeom>
          <a:noFill/>
        </p:spPr>
        <p:txBody>
          <a:bodyPr wrap="square" lIns="73152" tIns="27432" rIns="45720" bIns="27432">
            <a:spAutoFit/>
          </a:bodyPr>
          <a:lstStyle/>
          <a:p>
            <a:pPr>
              <a:spcAft>
                <a:spcPts val="700"/>
              </a:spcAft>
            </a:pPr>
            <a:r>
              <a:rPr sz="1400" b="0">
                <a:solidFill>
                  <a:srgbClr val="5B6874"/>
                </a:solidFill>
                <a:latin typeface="PingFang SC" panose="020B0400000000000000" charset="-122"/>
              </a:rPr>
              <a:t>• task-level sign test p = 0.109，未显著</a:t>
            </a:r>
            <a:endParaRPr sz="14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5B6874"/>
                </a:solidFill>
                <a:latin typeface="PingFang SC" panose="020B0400000000000000" charset="-122"/>
              </a:rPr>
              <a:t>• 8-trial run 被配额中断</a:t>
            </a:r>
            <a:endParaRPr sz="14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5B6874"/>
                </a:solidFill>
                <a:latin typeface="PingFang SC" panose="020B0400000000000000" charset="-122"/>
              </a:rPr>
              <a:t>• confirmation binding 缺陷修复后尚未重跑</a:t>
            </a:r>
            <a:endParaRPr sz="1400" b="0">
              <a:solidFill>
                <a:srgbClr val="5B6874"/>
              </a:solidFill>
              <a:latin typeface="PingFang SC" panose="020B0400000000000000" charset="-122"/>
            </a:endParaRP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5B6874"/>
                </a:solidFill>
                <a:latin typeface="PingFang SC" panose="020B0400000000000000" charset="-122"/>
              </a:rPr>
              <a:t>• 平均延迟：190.6s → 260.3s</a:t>
            </a:r>
            <a:endParaRPr sz="14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8600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47E7D"/>
                </a:solidFill>
                <a:latin typeface="PingFang SC" panose="020B0400000000000000" charset="-122"/>
              </a:rPr>
              <a:t>SYNTHESIS</a:t>
            </a:r>
            <a:endParaRPr sz="1000" b="1">
              <a:solidFill>
                <a:srgbClr val="147E7D"/>
              </a:solidFill>
              <a:latin typeface="PingFang SC" panose="020B0400000000000000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62A3F"/>
                </a:solidFill>
                <a:latin typeface="PingFang SC" panose="020B0400000000000000" charset="-122"/>
              </a:rPr>
              <a:t>论文边界</a:t>
            </a:r>
            <a:endParaRPr sz="2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107899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三篇论文形成基础本体、动作获取和运行使用的递进关系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94360" y="1417320"/>
            <a:ext cx="10972800" cy="0"/>
          </a:xfrm>
          <a:prstGeom prst="line">
            <a:avLst/>
          </a:prstGeom>
          <a:ln w="12700">
            <a:solidFill>
              <a:srgbClr val="D3DA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21792" y="6510528"/>
            <a:ext cx="4572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800" b="0">
                <a:solidFill>
                  <a:srgbClr val="5B6874"/>
                </a:solidFill>
                <a:latin typeface="PingFang SC" panose="020B0400000000000000" charset="-122"/>
              </a:rPr>
              <a:t>Ontology Action Layer Research Plan</a:t>
            </a:r>
            <a:endParaRPr sz="8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1">
                <a:solidFill>
                  <a:srgbClr val="5B6874"/>
                </a:solidFill>
                <a:latin typeface="PingFang SC" panose="020B0400000000000000" charset="-122"/>
              </a:rPr>
              <a:t>22</a:t>
            </a:r>
            <a:endParaRPr sz="900" b="1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755648"/>
          <a:ext cx="1101852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743200"/>
                <a:gridCol w="3154680"/>
                <a:gridCol w="3886200"/>
              </a:tblGrid>
              <a:tr h="994409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ingFang SC" panose="020B0400000000000000" charset="-122"/>
                        </a:rPr>
                        <a:t>论文</a:t>
                      </a:r>
                      <a:endParaRPr sz="1200" b="1">
                        <a:solidFill>
                          <a:srgbClr val="FFFFFF"/>
                        </a:solidFill>
                        <a:latin typeface="PingFang SC" panose="020B0400000000000000" charset="-122"/>
                      </a:endParaRPr>
                    </a:p>
                  </a:txBody>
                  <a:tcPr anchor="ctr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ingFang SC" panose="020B0400000000000000" charset="-122"/>
                        </a:rPr>
                        <a:t>核心问题</a:t>
                      </a:r>
                      <a:endParaRPr sz="1200" b="1">
                        <a:solidFill>
                          <a:srgbClr val="FFFFFF"/>
                        </a:solidFill>
                        <a:latin typeface="PingFang SC" panose="020B0400000000000000" charset="-122"/>
                      </a:endParaRPr>
                    </a:p>
                  </a:txBody>
                  <a:tcPr anchor="ctr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ingFang SC" panose="020B0400000000000000" charset="-122"/>
                        </a:rPr>
                        <a:t>输入/输出</a:t>
                      </a:r>
                      <a:endParaRPr sz="1200" b="1">
                        <a:solidFill>
                          <a:srgbClr val="FFFFFF"/>
                        </a:solidFill>
                        <a:latin typeface="PingFang SC" panose="020B0400000000000000" charset="-122"/>
                      </a:endParaRPr>
                    </a:p>
                  </a:txBody>
                  <a:tcPr anchor="ctr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ingFang SC" panose="020B0400000000000000" charset="-122"/>
                        </a:rPr>
                        <a:t>明确不做什么</a:t>
                      </a:r>
                      <a:endParaRPr sz="1200" b="1">
                        <a:solidFill>
                          <a:srgbClr val="FFFFFF"/>
                        </a:solidFill>
                        <a:latin typeface="PingFang SC" panose="020B0400000000000000" charset="-122"/>
                      </a:endParaRPr>
                    </a:p>
                  </a:txBody>
                  <a:tcPr anchor="ctr">
                    <a:solidFill>
                      <a:srgbClr val="162A3F"/>
                    </a:solidFill>
                  </a:tcPr>
                </a:tc>
              </a:tr>
              <a:tr h="99440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Paper 1</a:t>
                      </a:r>
                      <a:endParaRPr sz="1200" b="1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数据本体如何低成本协作生成？</a:t>
                      </a:r>
                      <a:endParaRPr sz="12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Live Schema → Versioned Data Ontology</a:t>
                      </a:r>
                      <a:endParaRPr sz="12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不直接生成 Action IR</a:t>
                      </a:r>
                      <a:endParaRPr sz="12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</a:tr>
              <a:tr h="99440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Paper 2</a:t>
                      </a:r>
                      <a:endParaRPr sz="1200" b="1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EBF3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文档如何产生动作候选？</a:t>
                      </a:r>
                      <a:endParaRPr sz="12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EBF3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Document → Action IR Patch</a:t>
                      </a:r>
                      <a:endParaRPr sz="12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EBF3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不负责协作治理和 agent policy</a:t>
                      </a:r>
                      <a:endParaRPr sz="12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EBF3F9"/>
                    </a:solidFill>
                  </a:tcPr>
                </a:tc>
              </a:tr>
              <a:tr h="99441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Paper 3</a:t>
                      </a:r>
                      <a:endParaRPr sz="1200" b="1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如何理解、验证和修复动作？</a:t>
                      </a:r>
                      <a:endParaRPr sz="12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ActionBank → Runtime Execution</a:t>
                      </a:r>
                      <a:endParaRPr sz="12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不负责从文档构建动作层</a:t>
                      </a:r>
                      <a:endParaRPr sz="12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05840" y="5925312"/>
            <a:ext cx="101498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>
                <a:solidFill>
                  <a:srgbClr val="162A3F"/>
                </a:solidFill>
                <a:latin typeface="PingFang SC" panose="020B0400000000000000" charset="-122"/>
              </a:rPr>
              <a:t>体系性来自层次递进和数据依赖；不能再声称三篇论文都共享同一个 Action IR 输出。</a:t>
            </a:r>
            <a:endParaRPr sz="14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8600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47E7D"/>
                </a:solidFill>
                <a:latin typeface="PingFang SC" panose="020B0400000000000000" charset="-122"/>
              </a:rPr>
              <a:t>EVIDENCE</a:t>
            </a:r>
            <a:endParaRPr sz="1000" b="1">
              <a:solidFill>
                <a:srgbClr val="147E7D"/>
              </a:solidFill>
              <a:latin typeface="PingFang SC" panose="020B0400000000000000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62A3F"/>
                </a:solidFill>
                <a:latin typeface="PingFang SC" panose="020B0400000000000000" charset="-122"/>
              </a:rPr>
              <a:t>证据矩阵</a:t>
            </a:r>
            <a:endParaRPr sz="2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107899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明确当前证据、缺失实验和停止条件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94360" y="1417320"/>
            <a:ext cx="10972800" cy="0"/>
          </a:xfrm>
          <a:prstGeom prst="line">
            <a:avLst/>
          </a:prstGeom>
          <a:ln w="12700">
            <a:solidFill>
              <a:srgbClr val="D3DA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21792" y="6510528"/>
            <a:ext cx="4572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800" b="0">
                <a:solidFill>
                  <a:srgbClr val="5B6874"/>
                </a:solidFill>
                <a:latin typeface="PingFang SC" panose="020B0400000000000000" charset="-122"/>
              </a:rPr>
              <a:t>Ontology Action Layer Research Plan</a:t>
            </a:r>
            <a:endParaRPr sz="8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1">
                <a:solidFill>
                  <a:srgbClr val="5B6874"/>
                </a:solidFill>
                <a:latin typeface="PingFang SC" panose="020B0400000000000000" charset="-122"/>
              </a:rPr>
              <a:t>23</a:t>
            </a:r>
            <a:endParaRPr sz="900" b="1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719072"/>
          <a:ext cx="11155679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743200"/>
                <a:gridCol w="3383280"/>
                <a:gridCol w="3749039"/>
              </a:tblGrid>
              <a:tr h="104013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ingFang SC" panose="020B0400000000000000" charset="-122"/>
                        </a:rPr>
                        <a:t>论文</a:t>
                      </a:r>
                      <a:endParaRPr sz="1200" b="1">
                        <a:solidFill>
                          <a:srgbClr val="FFFFFF"/>
                        </a:solidFill>
                        <a:latin typeface="PingFang SC" panose="020B0400000000000000" charset="-122"/>
                      </a:endParaRPr>
                    </a:p>
                  </a:txBody>
                  <a:tcPr anchor="ctr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ingFang SC" panose="020B0400000000000000" charset="-122"/>
                        </a:rPr>
                        <a:t>当前证据</a:t>
                      </a:r>
                      <a:endParaRPr sz="1200" b="1">
                        <a:solidFill>
                          <a:srgbClr val="FFFFFF"/>
                        </a:solidFill>
                        <a:latin typeface="PingFang SC" panose="020B0400000000000000" charset="-122"/>
                      </a:endParaRPr>
                    </a:p>
                  </a:txBody>
                  <a:tcPr anchor="ctr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ingFang SC" panose="020B0400000000000000" charset="-122"/>
                        </a:rPr>
                        <a:t>必须补齐</a:t>
                      </a:r>
                      <a:endParaRPr sz="1200" b="1">
                        <a:solidFill>
                          <a:srgbClr val="FFFFFF"/>
                        </a:solidFill>
                        <a:latin typeface="PingFang SC" panose="020B0400000000000000" charset="-122"/>
                      </a:endParaRPr>
                    </a:p>
                  </a:txBody>
                  <a:tcPr anchor="ctr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ingFang SC" panose="020B0400000000000000" charset="-122"/>
                        </a:rPr>
                        <a:t>Go / No-Go</a:t>
                      </a:r>
                      <a:endParaRPr sz="1200" b="1">
                        <a:solidFill>
                          <a:srgbClr val="FFFFFF"/>
                        </a:solidFill>
                        <a:latin typeface="PingFang SC" panose="020B0400000000000000" charset="-122"/>
                      </a:endParaRPr>
                    </a:p>
                  </a:txBody>
                  <a:tcPr anchor="ctr">
                    <a:solidFill>
                      <a:srgbClr val="162A3F"/>
                    </a:solidFill>
                  </a:tcPr>
                </a:tc>
              </a:tr>
              <a:tr h="104013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Paper 1</a:t>
                      </a:r>
                      <a:endParaRPr sz="1200" b="1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方法文档 + 案例描述</a:t>
                      </a:r>
                      <a:endParaRPr sz="12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关系金标 + 成本/协作/漂移实验</a:t>
                      </a:r>
                      <a:endParaRPr sz="12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无质量—成本优势则收缩为工程方案</a:t>
                      </a:r>
                      <a:endParaRPr sz="12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</a:tr>
              <a:tr h="104013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Paper 2</a:t>
                      </a:r>
                      <a:endParaRPr sz="1200" b="1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EBF3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40 篇内部结果混合</a:t>
                      </a:r>
                      <a:endParaRPr sz="12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EBF3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公开集 + Full IR 金标</a:t>
                      </a:r>
                      <a:endParaRPr sz="12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EBF3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不能超过直接基线则收缩主张</a:t>
                      </a:r>
                      <a:endParaRPr sz="12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EBF3F9"/>
                    </a:solidFill>
                  </a:tcPr>
                </a:tc>
              </a:tr>
              <a:tr h="104013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Paper 3</a:t>
                      </a:r>
                      <a:endParaRPr sz="1200" b="1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+10.9 pp；task p=0.109</a:t>
                      </a:r>
                      <a:endParaRPr sz="12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修复版全量 trials + 外部域</a:t>
                      </a:r>
                      <a:endParaRPr sz="12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42C34"/>
                          </a:solidFill>
                          <a:latin typeface="PingFang SC" panose="020B0400000000000000" charset="-122"/>
                        </a:rPr>
                        <a:t>无稳定任务级收益则转向诊断论文</a:t>
                      </a:r>
                      <a:endParaRPr sz="1200" b="0">
                        <a:solidFill>
                          <a:srgbClr val="242C34"/>
                        </a:solidFill>
                        <a:latin typeface="PingFang SC" panose="020B0400000000000000" charset="-122"/>
                      </a:endParaRPr>
                    </a:p>
                  </a:txBody>
                  <a:tcPr marL="54864" marR="3657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8600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47E7D"/>
                </a:solidFill>
                <a:latin typeface="PingFang SC" panose="020B0400000000000000" charset="-122"/>
              </a:rPr>
              <a:t>ROADMAP</a:t>
            </a:r>
            <a:endParaRPr sz="1000" b="1">
              <a:solidFill>
                <a:srgbClr val="147E7D"/>
              </a:solidFill>
              <a:latin typeface="PingFang SC" panose="020B0400000000000000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62A3F"/>
                </a:solidFill>
                <a:latin typeface="PingFang SC" panose="020B0400000000000000" charset="-122"/>
              </a:rPr>
              <a:t>推进计划</a:t>
            </a:r>
            <a:endParaRPr sz="2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107899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每阶段以可交付物和验收条件结束，不按概念模块推进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94360" y="1417320"/>
            <a:ext cx="10972800" cy="0"/>
          </a:xfrm>
          <a:prstGeom prst="line">
            <a:avLst/>
          </a:prstGeom>
          <a:ln w="12700">
            <a:solidFill>
              <a:srgbClr val="D3DA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21792" y="6510528"/>
            <a:ext cx="4572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800" b="0">
                <a:solidFill>
                  <a:srgbClr val="5B6874"/>
                </a:solidFill>
                <a:latin typeface="PingFang SC" panose="020B0400000000000000" charset="-122"/>
              </a:rPr>
              <a:t>Ontology Action Layer Research Plan</a:t>
            </a:r>
            <a:endParaRPr sz="8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1">
                <a:solidFill>
                  <a:srgbClr val="5B6874"/>
                </a:solidFill>
                <a:latin typeface="PingFang SC" panose="020B0400000000000000" charset="-122"/>
              </a:rPr>
              <a:t>24</a:t>
            </a:r>
            <a:endParaRPr sz="900" b="1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58368" y="1828800"/>
            <a:ext cx="2514600" cy="3401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43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2029968"/>
            <a:ext cx="621792" cy="310896"/>
          </a:xfrm>
          <a:prstGeom prst="roundRect">
            <a:avLst>
              <a:gd name="adj" fmla="val 8000"/>
            </a:avLst>
          </a:prstGeom>
          <a:solidFill>
            <a:srgbClr val="B4433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039112"/>
            <a:ext cx="621792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01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41247" y="2679192"/>
            <a:ext cx="2148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2026 Q3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41247" y="3364992"/>
            <a:ext cx="2148840" cy="1051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0">
                <a:solidFill>
                  <a:srgbClr val="5B6874"/>
                </a:solidFill>
                <a:latin typeface="PingFang SC" panose="020B0400000000000000" charset="-122"/>
              </a:rPr>
              <a:t>修复 binding
全量 paired trials
任务级统计与消融</a:t>
            </a:r>
            <a:endParaRPr sz="14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3200400" y="3493008"/>
            <a:ext cx="274320" cy="0"/>
          </a:xfrm>
          <a:prstGeom prst="line">
            <a:avLst/>
          </a:prstGeom>
          <a:ln w="30480">
            <a:solidFill>
              <a:srgbClr val="B443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8728" y="1828800"/>
            <a:ext cx="2514600" cy="3401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7E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1608" y="2029968"/>
            <a:ext cx="621792" cy="310896"/>
          </a:xfrm>
          <a:prstGeom prst="roundRect">
            <a:avLst>
              <a:gd name="adj" fmla="val 8000"/>
            </a:avLst>
          </a:prstGeom>
          <a:solidFill>
            <a:srgbClr val="147E7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1608" y="2039112"/>
            <a:ext cx="621792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02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721608" y="2679192"/>
            <a:ext cx="2148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2026 Q3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721608" y="3364992"/>
            <a:ext cx="2148840" cy="1051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0">
                <a:solidFill>
                  <a:srgbClr val="5B6874"/>
                </a:solidFill>
                <a:latin typeface="PingFang SC" panose="020B0400000000000000" charset="-122"/>
              </a:rPr>
              <a:t>冻结 IR core
补 Airline 投影
记录跨域字段差异</a:t>
            </a:r>
            <a:endParaRPr sz="14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6080760" y="3493008"/>
            <a:ext cx="274320" cy="0"/>
          </a:xfrm>
          <a:prstGeom prst="line">
            <a:avLst/>
          </a:prstGeom>
          <a:ln w="30480">
            <a:solidFill>
              <a:srgbClr val="147E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419088" y="1828800"/>
            <a:ext cx="2514600" cy="3401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67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01968" y="2029968"/>
            <a:ext cx="621792" cy="310896"/>
          </a:xfrm>
          <a:prstGeom prst="roundRect">
            <a:avLst>
              <a:gd name="adj" fmla="val 8000"/>
            </a:avLst>
          </a:prstGeom>
          <a:solidFill>
            <a:srgbClr val="2A679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1968" y="2039112"/>
            <a:ext cx="621792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03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601968" y="2679192"/>
            <a:ext cx="2148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2026 Q3-Q4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601968" y="3364992"/>
            <a:ext cx="2148840" cy="1051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0">
                <a:solidFill>
                  <a:srgbClr val="5B6874"/>
                </a:solidFill>
                <a:latin typeface="PingFang SC" panose="020B0400000000000000" charset="-122"/>
              </a:rPr>
              <a:t>修复 Paper 2 评测
100–200 Full IR
公开 benchmark</a:t>
            </a:r>
            <a:endParaRPr sz="14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25" name="Connector 24"/>
          <p:cNvCxnSpPr/>
          <p:nvPr/>
        </p:nvCxnSpPr>
        <p:spPr>
          <a:xfrm>
            <a:off x="8961119" y="3493008"/>
            <a:ext cx="274321" cy="0"/>
          </a:xfrm>
          <a:prstGeom prst="line">
            <a:avLst/>
          </a:prstGeom>
          <a:ln w="30480">
            <a:solidFill>
              <a:srgbClr val="2A67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299448" y="1828800"/>
            <a:ext cx="2514600" cy="3401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28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82328" y="2029968"/>
            <a:ext cx="621792" cy="310896"/>
          </a:xfrm>
          <a:prstGeom prst="roundRect">
            <a:avLst>
              <a:gd name="adj" fmla="val 8000"/>
            </a:avLst>
          </a:prstGeom>
          <a:solidFill>
            <a:srgbClr val="D28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82328" y="2039112"/>
            <a:ext cx="621792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04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9482328" y="2679192"/>
            <a:ext cx="2148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700" b="1">
                <a:solidFill>
                  <a:srgbClr val="162A3F"/>
                </a:solidFill>
                <a:latin typeface="PingFang SC" panose="020B0400000000000000" charset="-122"/>
              </a:rPr>
              <a:t>2026 Q4</a:t>
            </a:r>
            <a:endParaRPr sz="1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482328" y="3364992"/>
            <a:ext cx="2148840" cy="1051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0">
                <a:solidFill>
                  <a:srgbClr val="5B6874"/>
                </a:solidFill>
                <a:latin typeface="PingFang SC" panose="020B0400000000000000" charset="-122"/>
              </a:rPr>
              <a:t>复现 Kyuubi workflow
关系/成本/漂移实验
决定是否独立成文</a:t>
            </a:r>
            <a:endParaRPr sz="14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97280" y="5650992"/>
            <a:ext cx="996696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600" b="1">
                <a:solidFill>
                  <a:srgbClr val="147E7D"/>
                </a:solidFill>
                <a:latin typeface="PingFang SC" panose="020B0400000000000000" charset="-122"/>
              </a:rPr>
              <a:t>停止扩域条件：Paper 3 无任务级稳定收益，或 Paper 2 不能超过直接本体基线</a:t>
            </a:r>
            <a:endParaRPr sz="1600" b="1">
              <a:solidFill>
                <a:srgbClr val="147E7D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8600"/>
            <a:ext cx="20116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147E7D"/>
                </a:solidFill>
                <a:latin typeface="PingFang SC" panose="020B0400000000000000" charset="-122"/>
              </a:rPr>
              <a:t>REQUEST</a:t>
            </a:r>
            <a:endParaRPr sz="1000" b="1">
              <a:solidFill>
                <a:srgbClr val="147E7D"/>
              </a:solidFill>
              <a:latin typeface="PingFang SC" panose="020B0400000000000000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>
                <a:solidFill>
                  <a:srgbClr val="162A3F"/>
                </a:solidFill>
                <a:latin typeface="PingFang SC" panose="020B0400000000000000" charset="-122"/>
              </a:rPr>
              <a:t>需要导师决策</a:t>
            </a:r>
            <a:endParaRPr sz="27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107899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B6874"/>
                </a:solidFill>
                <a:latin typeface="PingFang SC" panose="020B0400000000000000" charset="-122"/>
              </a:rPr>
              <a:t>每项选择都会直接改变下一阶段投入，不再泛泛征求意见</a:t>
            </a:r>
            <a:endParaRPr sz="13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94360" y="1417320"/>
            <a:ext cx="10972800" cy="0"/>
          </a:xfrm>
          <a:prstGeom prst="line">
            <a:avLst/>
          </a:prstGeom>
          <a:ln w="12700">
            <a:solidFill>
              <a:srgbClr val="D3DA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21792" y="6510528"/>
            <a:ext cx="4572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800" b="0">
                <a:solidFill>
                  <a:srgbClr val="5B6874"/>
                </a:solidFill>
                <a:latin typeface="PingFang SC" panose="020B0400000000000000" charset="-122"/>
              </a:rPr>
              <a:t>Ontology Action Layer Research Plan</a:t>
            </a:r>
            <a:endParaRPr sz="8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109960" y="6473952"/>
            <a:ext cx="457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900" b="1">
                <a:solidFill>
                  <a:srgbClr val="5B6874"/>
                </a:solidFill>
                <a:latin typeface="PingFang SC" panose="020B0400000000000000" charset="-122"/>
              </a:rPr>
              <a:t>25</a:t>
            </a:r>
            <a:endParaRPr sz="900" b="1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40080" y="1572768"/>
            <a:ext cx="52852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7E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1" y="1737360"/>
            <a:ext cx="530352" cy="310896"/>
          </a:xfrm>
          <a:prstGeom prst="roundRect">
            <a:avLst>
              <a:gd name="adj" fmla="val 8000"/>
            </a:avLst>
          </a:prstGeom>
          <a:solidFill>
            <a:srgbClr val="147E7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746504"/>
            <a:ext cx="530352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1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536192" y="1691640"/>
            <a:ext cx="15087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62A3F"/>
                </a:solidFill>
                <a:latin typeface="PingFang SC" panose="020B0400000000000000" charset="-122"/>
              </a:rPr>
              <a:t>Paper 1 定位</a:t>
            </a:r>
            <a:endParaRPr sz="15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536192" y="2057400"/>
            <a:ext cx="406908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现在按独立论文投入，还是先降为大论文系统章节？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572768"/>
            <a:ext cx="52852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A67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19672" y="1737360"/>
            <a:ext cx="530352" cy="310896"/>
          </a:xfrm>
          <a:prstGeom prst="roundRect">
            <a:avLst>
              <a:gd name="adj" fmla="val 8000"/>
            </a:avLst>
          </a:prstGeom>
          <a:solidFill>
            <a:srgbClr val="2A679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1746504"/>
            <a:ext cx="530352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2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251192" y="1691640"/>
            <a:ext cx="15087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62A3F"/>
                </a:solidFill>
                <a:latin typeface="PingFang SC" panose="020B0400000000000000" charset="-122"/>
              </a:rPr>
              <a:t>金标领域</a:t>
            </a:r>
            <a:endParaRPr sz="15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251192" y="2057400"/>
            <a:ext cx="406908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建议优先维修/工业 SOP；是否同意锁定该方向？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40080" y="2990088"/>
            <a:ext cx="52852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28B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4671" y="3154680"/>
            <a:ext cx="530352" cy="310896"/>
          </a:xfrm>
          <a:prstGeom prst="roundRect">
            <a:avLst>
              <a:gd name="adj" fmla="val 8000"/>
            </a:avLst>
          </a:prstGeom>
          <a:solidFill>
            <a:srgbClr val="D28B23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1" y="3163824"/>
            <a:ext cx="530352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3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536192" y="3108960"/>
            <a:ext cx="15087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62A3F"/>
                </a:solidFill>
                <a:latin typeface="PingFang SC" panose="020B0400000000000000" charset="-122"/>
              </a:rPr>
              <a:t>专家资源</a:t>
            </a:r>
            <a:endParaRPr sz="15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536192" y="3474720"/>
            <a:ext cx="406908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能否协调 2–3 名专家完成标注、裁决和时间记录？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6355080" y="2990088"/>
            <a:ext cx="52852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84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19672" y="3154680"/>
            <a:ext cx="530352" cy="310896"/>
          </a:xfrm>
          <a:prstGeom prst="roundRect">
            <a:avLst>
              <a:gd name="adj" fmla="val 8000"/>
            </a:avLst>
          </a:prstGeom>
          <a:solidFill>
            <a:srgbClr val="34845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19672" y="3163824"/>
            <a:ext cx="530352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4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251192" y="3108960"/>
            <a:ext cx="15087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62A3F"/>
                </a:solidFill>
                <a:latin typeface="PingFang SC" panose="020B0400000000000000" charset="-122"/>
              </a:rPr>
              <a:t>Paper 3 门槛</a:t>
            </a:r>
            <a:endParaRPr sz="15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251192" y="3474720"/>
            <a:ext cx="406908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是否以任务级稳定收益作为扩展 Airline 的前提？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640080" y="4407408"/>
            <a:ext cx="52852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443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4671" y="4572000"/>
            <a:ext cx="530352" cy="310896"/>
          </a:xfrm>
          <a:prstGeom prst="roundRect">
            <a:avLst>
              <a:gd name="adj" fmla="val 8000"/>
            </a:avLst>
          </a:prstGeom>
          <a:solidFill>
            <a:srgbClr val="B4433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1" y="4581144"/>
            <a:ext cx="530352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5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536192" y="4526280"/>
            <a:ext cx="15087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62A3F"/>
                </a:solidFill>
                <a:latin typeface="PingFang SC" panose="020B0400000000000000" charset="-122"/>
              </a:rPr>
              <a:t>Paper 2 主线</a:t>
            </a:r>
            <a:endParaRPr sz="15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536192" y="4892040"/>
            <a:ext cx="406908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以抽取准确率为主，还是以 executable downstream utility 为主？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355080" y="4407408"/>
            <a:ext cx="52852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62A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519672" y="4572000"/>
            <a:ext cx="530352" cy="310896"/>
          </a:xfrm>
          <a:prstGeom prst="roundRect">
            <a:avLst>
              <a:gd name="adj" fmla="val 8000"/>
            </a:avLst>
          </a:prstGeom>
          <a:solidFill>
            <a:srgbClr val="162A3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9672" y="4581144"/>
            <a:ext cx="530352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ingFang SC" panose="020B0400000000000000" charset="-122"/>
              </a:rPr>
              <a:t>6</a:t>
            </a:r>
            <a:endParaRPr sz="1000" b="1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251192" y="4526280"/>
            <a:ext cx="150876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62A3F"/>
                </a:solidFill>
                <a:latin typeface="PingFang SC" panose="020B0400000000000000" charset="-122"/>
              </a:rPr>
              <a:t>可发布数据</a:t>
            </a:r>
            <a:endParaRPr sz="1500" b="1">
              <a:solidFill>
                <a:srgbClr val="162A3F"/>
              </a:solidFill>
              <a:latin typeface="PingFang SC" panose="020B0400000000000000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251192" y="4892040"/>
            <a:ext cx="406908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5B6874"/>
                </a:solidFill>
                <a:latin typeface="PingFang SC" panose="020B0400000000000000" charset="-122"/>
              </a:rPr>
              <a:t>能否获得可匿名的 SOP、Schema、API 和变更记录？</a:t>
            </a:r>
            <a:endParaRPr sz="1200" b="0">
              <a:solidFill>
                <a:srgbClr val="5B6874"/>
              </a:solidFill>
              <a:latin typeface="PingFang SC" panose="020B0400000000000000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977639" y="6108192"/>
            <a:ext cx="425196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147E7D"/>
                </a:solidFill>
                <a:latin typeface="PingFang SC" panose="020B0400000000000000" charset="-122"/>
              </a:rPr>
              <a:t>谢谢，请批评指正</a:t>
            </a:r>
            <a:endParaRPr sz="1800" b="1">
              <a:solidFill>
                <a:srgbClr val="147E7D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9400</Words>
  <Application>WPS 文字</Application>
  <PresentationFormat>On-screen Show (4:3)</PresentationFormat>
  <Paragraphs>957</Paragraphs>
  <Slides>25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38" baseType="lpstr">
      <vt:lpstr>Arial</vt:lpstr>
      <vt:lpstr>宋体</vt:lpstr>
      <vt:lpstr>Wingdings</vt:lpstr>
      <vt:lpstr>Arial</vt:lpstr>
      <vt:lpstr>PingFang SC</vt:lpstr>
      <vt:lpstr>Calibri</vt:lpstr>
      <vt:lpstr>Helvetica Neue</vt:lpstr>
      <vt:lpstr>宋体</vt:lpstr>
      <vt:lpstr>汉仪书宋二KW</vt:lpstr>
      <vt:lpstr>微软雅黑</vt:lpstr>
      <vt:lpstr>汉仪旗黑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面向本体动作层的研究：协作构建、文档抽取与智能体执行</dc:title>
  <dc:creator/>
  <dc:description>generated using python-pptx</dc:description>
  <dc:subject>三篇论文研究体系与实验计划</dc:subject>
  <cp:lastModifiedBy>国家一级注册小仙女®</cp:lastModifiedBy>
  <cp:revision>4</cp:revision>
  <dcterms:created xsi:type="dcterms:W3CDTF">2026-06-23T14:18:47Z</dcterms:created>
  <dcterms:modified xsi:type="dcterms:W3CDTF">2026-06-23T14:18:47Z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1DE9E7A6646FA4163C953A6A93EB6A96_42</vt:lpwstr>
  </property>
  <property fmtid="{D5CDD505-2E9C-101B-9397-08002B2CF9AE}" pid="3" name="KSOProductBuildVer">
    <vt:lpwstr>2052-6.7.1.8828</vt:lpwstr>
  </property>
</Properties>
</file>